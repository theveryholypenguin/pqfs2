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QFS 2.0" id="{757556cc-f842-92a5-681e-e7eaef4b6f3f}">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B33"/>
                </a:solidFill>
                <a:latin typeface="+mn-lt"/>
              </a:defRPr>
            </a:pPr>
            <a:r>
              <a:rPr sz="1200" b="0" i="0" u="none" strike="noStrike">
                <a:solidFill>
                  <a:srgbClr val="0B1B33"/>
                </a:solidFill>
                <a:latin typeface="+mn-lt"/>
              </a:rPr>
              <a:t>Hybrid KEM latency per key share (ms)</a:t>
            </a:r>
          </a:p>
        </c:rich>
      </c:tx>
      <c:layout/>
      <c:overlay val="0"/>
    </c:title>
    <c:autoTitleDeleted val="0"/>
    <c:plotArea>
      <c:layout/>
      <c:barChart>
        <c:barDir val="col"/>
        <c:grouping val="clustered"/>
        <c:varyColors val="0"/>
        <c:ser>
          <c:idx val="0"/>
          <c:order val="0"/>
          <c:tx>
            <c:strRef>
              <c:f>Sheet1!$B$1</c:f>
              <c:strCache>
                <c:ptCount val="1"/>
                <c:pt idx="0">
                  <c:v>Encapsulate (send)</c:v>
                </c:pt>
              </c:strCache>
            </c:strRef>
          </c:tx>
          <c:spPr>
            <a:solidFill>
              <a:srgbClr val="17A398"/>
            </a:solidFill>
            <a:effectLst/>
          </c:spPr>
          <c:invertIfNegative val="0"/>
          <c:dLbls>
            <c:numFmt formatCode="0.0" sourceLinked="0"/>
            <c:txPr>
              <a:bodyPr/>
              <a:lstStyle/>
              <a:p>
                <a:pPr>
                  <a:defRPr b="0" i="0" strike="noStrike" sz="1100" u="none">
                    <a:solidFill>
                      <a:srgbClr val="0B1B33"/>
                    </a:solidFill>
                    <a:latin typeface="+mn-lt"/>
                  </a:defRPr>
                </a:pPr>
              </a:p>
            </c:txPr>
            <c:showLegendKey val="0"/>
            <c:showVal val="1"/>
            <c:showCatName val="0"/>
            <c:showSerName val="0"/>
            <c:showPercent val="0"/>
            <c:showBubbleSize val="0"/>
            <c:showLeaderLines val="0"/>
          </c:dLbls>
          <c:cat>
            <c:multiLvlStrRef>
              <c:f>Sheet1!$A$2:$A$4</c:f>
              <c:multiLvlStrCache>
                <c:ptCount val="3"/>
                <c:lvl>
                  <c:pt idx="0">
                    <c:v>T1  ephemeral</c:v>
                  </c:pt>
                  <c:pt idx="1">
                    <c:v>T2  standard</c:v>
                  </c:pt>
                  <c:pt idx="2">
                    <c:v>T3  long-term</c:v>
                  </c:pt>
                </c:lvl>
              </c:multiLvlStrCache>
            </c:multiLvlStrRef>
          </c:cat>
          <c:val>
            <c:numRef>
              <c:f>Sheet1!$B$2:$B$4</c:f>
              <c:numCache>
                <c:formatCode>General</c:formatCode>
                <c:ptCount val="3"/>
                <c:pt idx="0">
                  <c:v>0.1</c:v>
                </c:pt>
                <c:pt idx="1">
                  <c:v>9.6</c:v>
                </c:pt>
                <c:pt idx="2">
                  <c:v>23.1</c:v>
                </c:pt>
              </c:numCache>
            </c:numRef>
          </c:val>
        </c:ser>
        <c:ser>
          <c:idx val="1"/>
          <c:order val="1"/>
          <c:tx>
            <c:strRef>
              <c:f>Sheet1!$C$1</c:f>
              <c:strCache>
                <c:ptCount val="1"/>
                <c:pt idx="0">
                  <c:v>Decapsulate (receive)</c:v>
                </c:pt>
              </c:strCache>
            </c:strRef>
          </c:tx>
          <c:spPr>
            <a:solidFill>
              <a:srgbClr val="F2A93B"/>
            </a:solidFill>
            <a:effectLst/>
          </c:spPr>
          <c:invertIfNegative val="0"/>
          <c:dLbls>
            <c:numFmt formatCode="0.0" sourceLinked="0"/>
            <c:txPr>
              <a:bodyPr/>
              <a:lstStyle/>
              <a:p>
                <a:pPr>
                  <a:defRPr b="0" i="0" strike="noStrike" sz="1100" u="none">
                    <a:solidFill>
                      <a:srgbClr val="0B1B33"/>
                    </a:solidFill>
                    <a:latin typeface="+mn-lt"/>
                  </a:defRPr>
                </a:pPr>
              </a:p>
            </c:txPr>
            <c:showLegendKey val="0"/>
            <c:showVal val="1"/>
            <c:showCatName val="0"/>
            <c:showSerName val="0"/>
            <c:showPercent val="0"/>
            <c:showBubbleSize val="0"/>
            <c:showLeaderLines val="0"/>
          </c:dLbls>
          <c:cat>
            <c:multiLvlStrRef>
              <c:f>Sheet1!$A$2:$A$4</c:f>
              <c:multiLvlStrCache>
                <c:ptCount val="3"/>
                <c:lvl>
                  <c:pt idx="0">
                    <c:v>T1  ephemeral</c:v>
                  </c:pt>
                  <c:pt idx="1">
                    <c:v>T2  standard</c:v>
                  </c:pt>
                  <c:pt idx="2">
                    <c:v>T3  long-term</c:v>
                  </c:pt>
                </c:lvl>
              </c:multiLvlStrCache>
            </c:multiLvlStrRef>
          </c:cat>
          <c:val>
            <c:numRef>
              <c:f>Sheet1!$C$2:$C$4</c:f>
              <c:numCache>
                <c:formatCode>General</c:formatCode>
                <c:ptCount val="3"/>
                <c:pt idx="0">
                  <c:v>0.1</c:v>
                </c:pt>
                <c:pt idx="1">
                  <c:v>14.8</c:v>
                </c:pt>
                <c:pt idx="2">
                  <c:v>35.3</c:v>
                </c:pt>
              </c:numCache>
            </c:numRef>
          </c:val>
        </c:ser>
        <c:dLbls>
          <c:numFmt formatCode="0.0" sourceLinked="0"/>
          <c:txPr>
            <a:bodyPr/>
            <a:lstStyle/>
            <a:p>
              <a:pPr>
                <a:defRPr b="0" i="0" strike="noStrike" sz="1100" u="none">
                  <a:solidFill>
                    <a:srgbClr val="0B1B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B1B33"/>
                </a:solidFill>
                <a:latin typeface="+mn-lt"/>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D9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B1B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in one sentence: PQFS 2.0 is a file-sharing system built so that no single algorithm and no single server is a single point of failure. The three circles are the three independent mathematical families we combine for key exchange; an attacker has to break all three. Version 1 was just AES with a passphrase over raw TCP; version 2 adds six upgrades, which we will walk through in six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harvest-now-decrypt-later: data stolen today can be decrypted in 10-30 years. Be precise: Shor breaks the public-key part; AES-256 is fine. The new post-quantum algorithms are young, and two earlier NIST candidates (SIKE, Rainbow) were broken by ordinary computers, so we refuse to rely on one algorithm. This gives us the design rule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diagram. The sender encrypts the file once. The key is Shamir-split; each share is wrapped for the recipient with the hybrid KEM and stored on a different relay. Relays also keep signed Merkle logs. The recipient fetches the slots, rebuilds the key from t shares, verifies the sender's two signatures and only then decrypts. The italic line is the key security claim: below the threshold the key is information-theoretically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card. 1: the key is derived from all three algorithm families. 2: Shamir sharing across servers is information-theoretic. 3: rewrap is how we upgrade when an algorithm is deprecated; we demonstrated HQC-192 being declared broken and the file being upgraded to epoch 2 without touching the ciphertext. 4: the policy engine is a transparent rule-based scorer, not machine learning. 5: custodians must cooperate and relays are accountable via Merkle logs signed with the hash-based SLH-DSA. 6: the relay sees no file name, real size or sender.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our own runs on one cloud CPU core with relays on localhost, so network time is not included; say that if asked. 24 of 24 unit tests pass and all 12 demo scenarios behaved as designed. Throughput: about 186 MiB/s encrypt and 150 MiB/s decrypt with full verification on a 50 MiB file. Key wrapping: tier T1 is 0.1 ms, T2 about 10 ms, T3 about 23 ms to encapsulate and 35 ms to decapsulate, dominated by HQC. Package overhead falls from 2.6 percent at 1 MiB to 0.08 percent at 50 MiB; tiny files have high overhead because the trailer carries the sender's public key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four attacks from the demo that the system refused rather than silently tolerated. Right: be honest about limits; it earns marks. Not audited, relays see IP and timing, the policy engine is a deterministic heuristic, and rewrap protects future recordings only. Close with the takeaway and invite questions. Future work if asked: fingerprint-referenced sender keys, gossip monitors, authenticated uploads, fuzzing the protocol parser.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7178040" y="228600"/>
            <a:ext cx="1645920" cy="603504"/>
          </a:xfrm>
          <a:prstGeom prst="rect">
            <a:avLst/>
          </a:prstGeom>
          <a:solidFill>
            <a:schemeClr val="bg1"/>
          </a:solidFill>
          <a:ln w="12700">
            <a:solidFill>
              <a:schemeClr val="bg1"/>
            </a:solidFill>
            <a:prstDash val="solid"/>
          </a:ln>
        </p:spPr>
      </p:sp>
      <p:pic>
        <p:nvPicPr>
          <p:cNvPr id="3" name="Image 0" descr="Symbiosis Artificial Intelligence Institute logo">    </p:cNvPr>
          <p:cNvPicPr>
            <a:picLocks noChangeAspect="1"/>
          </p:cNvPicPr>
          <p:nvPr/>
        </p:nvPicPr>
        <p:blipFill>
          <a:blip r:embed="rId1"/>
          <a:stretch>
            <a:fillRect/>
          </a:stretch>
        </p:blipFill>
        <p:spPr>
          <a:xfrm>
            <a:off x="7315200" y="342900"/>
            <a:ext cx="1371600" cy="37124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TITLE">
    <p:bg>
      <p:bgPr>
        <a:solidFill>
          <a:schemeClr val="bg1"/>
        </a:solidFill>
      </p:bgPr>
    </p:bg>
    <p:spTree>
      <p:nvGrpSpPr>
        <p:cNvPr id="1" name=""/>
        <p:cNvGrpSpPr/>
        <p:nvPr/>
      </p:nvGrpSpPr>
      <p:grpSpPr>
        <a:xfrm>
          <a:off x="0" y="0"/>
          <a:ext cx="0" cy="0"/>
          <a:chOff x="0" y="0"/>
          <a:chExt cx="0" cy="0"/>
        </a:xfrm>
      </p:grpSpPr>
      <p:pic>
        <p:nvPicPr>
          <p:cNvPr id="2" name="Image 0" descr="Symbiosis Artificial Intelligence Institute logo">    </p:cNvPr>
          <p:cNvPicPr>
            <a:picLocks noChangeAspect="1"/>
          </p:cNvPicPr>
          <p:nvPr/>
        </p:nvPicPr>
        <p:blipFill>
          <a:blip r:embed="rId1"/>
          <a:stretch>
            <a:fillRect/>
          </a:stretch>
        </p:blipFill>
        <p:spPr>
          <a:xfrm>
            <a:off x="7315200" y="457200"/>
            <a:ext cx="1371600" cy="371246"/>
          </a:xfrm>
          <a:prstGeom prst="rect">
            <a:avLst/>
          </a:prstGeom>
        </p:spPr>
      </p:pic>
      <p:sp>
        <p:nvSpPr>
          <p:cNvPr id="3" name="Text 0"/>
          <p:cNvSpPr/>
          <p:nvPr>
            <p:ph idx="101" type="title" hasCustomPrompt="1"/>
          </p:nvPr>
        </p:nvSpPr>
        <p:spPr>
          <a:xfrm>
            <a:off x="457200" y="274320"/>
            <a:ext cx="658368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7178040" y="342900"/>
            <a:ext cx="1645920" cy="603504"/>
          </a:xfrm>
          <a:prstGeom prst="rect">
            <a:avLst/>
          </a:prstGeom>
          <a:solidFill>
            <a:schemeClr val="bg1"/>
          </a:solidFill>
          <a:ln w="12700">
            <a:solidFill>
              <a:schemeClr val="bg1"/>
            </a:solidFill>
            <a:prstDash val="solid"/>
          </a:ln>
        </p:spPr>
      </p:sp>
      <p:pic>
        <p:nvPicPr>
          <p:cNvPr id="3" name="Image 0" descr="Symbiosis Artificial Intelligence Institute logo">    </p:cNvPr>
          <p:cNvPicPr>
            <a:picLocks noChangeAspect="1"/>
          </p:cNvPicPr>
          <p:nvPr/>
        </p:nvPicPr>
        <p:blipFill>
          <a:blip r:embed="rId1"/>
          <a:stretch>
            <a:fillRect/>
          </a:stretch>
        </p:blipFill>
        <p:spPr>
          <a:xfrm>
            <a:off x="7315200" y="457200"/>
            <a:ext cx="1371600" cy="371246"/>
          </a:xfrm>
          <a:prstGeom prst="rect">
            <a:avLst/>
          </a:prstGeom>
        </p:spPr>
      </p:pic>
      <p:sp>
        <p:nvSpPr>
          <p:cNvPr id="4" name="Text 1"/>
          <p:cNvSpPr/>
          <p:nvPr>
            <p:ph idx="102" type="title" hasCustomPrompt="1"/>
          </p:nvPr>
        </p:nvSpPr>
        <p:spPr>
          <a:xfrm>
            <a:off x="457200" y="274320"/>
            <a:ext cx="658368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502920"/>
            <a:ext cx="475488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MINI PROJECT  |  ESE OCTOBER 2026</a:t>
            </a:r>
            <a:endParaRPr lang="en-US" sz="1100" dirty="0"/>
          </a:p>
        </p:txBody>
      </p:sp>
      <p:sp>
        <p:nvSpPr>
          <p:cNvPr id="3" name="Title"/>
          <p:cNvSpPr txBox="1"/>
          <p:nvPr/>
        </p:nvSpPr>
        <p:spPr>
          <a:xfrm>
            <a:off x="548640" y="1051560"/>
            <a:ext cx="4754880" cy="91440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PQFS 2.0</a:t>
            </a:r>
            <a:endParaRPr lang="en-US" sz="6000" dirty="0"/>
          </a:p>
        </p:txBody>
      </p:sp>
      <p:sp>
        <p:nvSpPr>
          <p:cNvPr id="4" name="Subtitle"/>
          <p:cNvSpPr txBox="1"/>
          <p:nvPr/>
        </p:nvSpPr>
        <p:spPr>
          <a:xfrm>
            <a:off x="548640" y="2011680"/>
            <a:ext cx="4754880" cy="457200"/>
          </a:xfrm>
          <a:prstGeom prst="rect">
            <a:avLst/>
          </a:prstGeom>
          <a:noFill/>
          <a:ln/>
        </p:spPr>
        <p:txBody>
          <a:bodyPr wrap="square" lIns="0" tIns="0" rIns="0" bIns="0" rtlCol="0" anchor="ctr"/>
          <a:lstStyle/>
          <a:p>
            <a:pPr indent="0" marL="0">
              <a:buNone/>
            </a:pPr>
            <a:r>
              <a:rPr lang="en-US" sz="2400" dirty="0">
                <a:solidFill>
                  <a:schemeClr val="bg2"/>
                </a:solidFill>
              </a:rPr>
              <a:t>Post-Quantum File Sharing System</a:t>
            </a:r>
            <a:endParaRPr lang="en-US" sz="2400" dirty="0"/>
          </a:p>
        </p:txBody>
      </p:sp>
      <p:sp>
        <p:nvSpPr>
          <p:cNvPr id="5" name="Tagline"/>
          <p:cNvSpPr txBox="1"/>
          <p:nvPr/>
        </p:nvSpPr>
        <p:spPr>
          <a:xfrm>
            <a:off x="548640" y="2697480"/>
            <a:ext cx="4480560" cy="914400"/>
          </a:xfrm>
          <a:prstGeom prst="rect">
            <a:avLst/>
          </a:prstGeom>
          <a:noFill/>
          <a:ln/>
        </p:spPr>
        <p:txBody>
          <a:bodyPr wrap="square" lIns="0" tIns="0" rIns="0" bIns="0" rtlCol="0" anchor="t"/>
          <a:lstStyle/>
          <a:p>
            <a:pPr indent="0" marL="0">
              <a:buNone/>
            </a:pPr>
            <a:r>
              <a:rPr lang="en-US" sz="1600" i="1" dirty="0">
                <a:solidFill>
                  <a:schemeClr val="accent2"/>
                </a:solidFill>
              </a:rPr>
              <a:t>Files that stay secret even if a whole family of cryptography breaks, and even if some servers are hostile.</a:t>
            </a:r>
            <a:endParaRPr lang="en-US" sz="1600" dirty="0"/>
          </a:p>
        </p:txBody>
      </p:sp>
      <p:sp>
        <p:nvSpPr>
          <p:cNvPr id="6" name="Authors"/>
          <p:cNvSpPr txBox="1"/>
          <p:nvPr/>
        </p:nvSpPr>
        <p:spPr>
          <a:xfrm>
            <a:off x="548640" y="3931920"/>
            <a:ext cx="4754880" cy="777240"/>
          </a:xfrm>
          <a:prstGeom prst="rect">
            <a:avLst/>
          </a:prstGeom>
          <a:noFill/>
          <a:ln/>
        </p:spPr>
        <p:txBody>
          <a:bodyPr wrap="square" lIns="0" tIns="0" rIns="0" bIns="0" rtlCol="0" anchor="ctr"/>
          <a:lstStyle/>
          <a:p>
            <a:pPr indent="0" marL="0">
              <a:buNone/>
            </a:pPr>
            <a:r>
              <a:rPr lang="en-US" sz="1400" b="1" dirty="0">
                <a:solidFill>
                  <a:schemeClr val="bg1"/>
                </a:solidFill>
              </a:rPr>
              <a:t>Pushkar Wagh  (PRN 25030421030)</a:t>
            </a:r>
            <a:endParaRPr lang="en-US" sz="1400" dirty="0"/>
          </a:p>
          <a:p>
            <a:pPr indent="0" marL="0">
              <a:buNone/>
            </a:pPr>
            <a:r>
              <a:rPr lang="en-US" sz="1400" b="1" dirty="0">
                <a:solidFill>
                  <a:schemeClr val="bg1"/>
                </a:solidFill>
              </a:rPr>
              <a:t>Vivaan Kriplani  (PRN 25030421049)</a:t>
            </a:r>
            <a:endParaRPr lang="en-US" sz="1400" dirty="0"/>
          </a:p>
          <a:p>
            <a:pPr indent="0" marL="0">
              <a:buNone/>
            </a:pPr>
            <a:r>
              <a:rPr lang="en-US" sz="1200" dirty="0">
                <a:solidFill>
                  <a:schemeClr val="accent1"/>
                </a:solidFill>
              </a:rPr>
              <a:t>github.com/theveryholypenguin/pqfs2</a:t>
            </a:r>
            <a:endParaRPr lang="en-US" sz="1400" dirty="0"/>
          </a:p>
        </p:txBody>
      </p:sp>
      <p:sp>
        <p:nvSpPr>
          <p:cNvPr id="7" name="Venn 0"/>
          <p:cNvSpPr/>
          <p:nvPr/>
        </p:nvSpPr>
        <p:spPr>
          <a:xfrm>
            <a:off x="5257800" y="960120"/>
            <a:ext cx="2103120" cy="2103120"/>
          </a:xfrm>
          <a:prstGeom prst="ellipse">
            <a:avLst/>
          </a:prstGeom>
          <a:solidFill>
            <a:schemeClr val="accent1">
              <a:alpha val="65000"/>
            </a:schemeClr>
          </a:solidFill>
          <a:ln w="19050">
            <a:solidFill>
              <a:schemeClr val="accent1"/>
            </a:solidFill>
            <a:prstDash val="solid"/>
          </a:ln>
        </p:spPr>
      </p:sp>
      <p:sp>
        <p:nvSpPr>
          <p:cNvPr id="8" name="Venn 1"/>
          <p:cNvSpPr/>
          <p:nvPr/>
        </p:nvSpPr>
        <p:spPr>
          <a:xfrm>
            <a:off x="6629400" y="960120"/>
            <a:ext cx="2103120" cy="2103120"/>
          </a:xfrm>
          <a:prstGeom prst="ellipse">
            <a:avLst/>
          </a:prstGeom>
          <a:solidFill>
            <a:schemeClr val="accent3">
              <a:alpha val="65000"/>
            </a:schemeClr>
          </a:solidFill>
          <a:ln w="19050">
            <a:solidFill>
              <a:schemeClr val="accent3"/>
            </a:solidFill>
            <a:prstDash val="solid"/>
          </a:ln>
        </p:spPr>
      </p:sp>
      <p:sp>
        <p:nvSpPr>
          <p:cNvPr id="9" name="Venn 2"/>
          <p:cNvSpPr/>
          <p:nvPr/>
        </p:nvSpPr>
        <p:spPr>
          <a:xfrm>
            <a:off x="5943600" y="2148840"/>
            <a:ext cx="2103120" cy="2103120"/>
          </a:xfrm>
          <a:prstGeom prst="ellipse">
            <a:avLst/>
          </a:prstGeom>
          <a:solidFill>
            <a:schemeClr val="accent2">
              <a:alpha val="65000"/>
            </a:schemeClr>
          </a:solidFill>
          <a:ln w="19050">
            <a:solidFill>
              <a:schemeClr val="accent2"/>
            </a:solidFill>
            <a:prstDash val="solid"/>
          </a:ln>
        </p:spPr>
      </p:sp>
      <p:sp>
        <p:nvSpPr>
          <p:cNvPr id="10" name="Label A"/>
          <p:cNvSpPr txBox="1"/>
          <p:nvPr/>
        </p:nvSpPr>
        <p:spPr>
          <a:xfrm>
            <a:off x="5349240" y="1417320"/>
            <a:ext cx="1097280" cy="594360"/>
          </a:xfrm>
          <a:prstGeom prst="rect">
            <a:avLst/>
          </a:prstGeom>
          <a:noFill/>
          <a:ln/>
        </p:spPr>
        <p:txBody>
          <a:bodyPr wrap="square" lIns="0" tIns="0" rIns="0" bIns="0" rtlCol="0" anchor="ctr"/>
          <a:lstStyle/>
          <a:p>
            <a:pPr algn="ctr" indent="0" marL="0">
              <a:buNone/>
            </a:pPr>
            <a:r>
              <a:rPr lang="en-US" sz="1500" b="1" dirty="0">
                <a:solidFill>
                  <a:schemeClr val="bg1"/>
                </a:solidFill>
              </a:rPr>
              <a:t>X25519</a:t>
            </a:r>
            <a:endParaRPr lang="en-US" sz="1500" dirty="0"/>
          </a:p>
          <a:p>
            <a:pPr algn="ctr" indent="0" marL="0">
              <a:buNone/>
            </a:pPr>
            <a:r>
              <a:rPr lang="en-US" sz="1200" dirty="0">
                <a:solidFill>
                  <a:schemeClr val="bg1"/>
                </a:solidFill>
              </a:rPr>
              <a:t>elliptic curve</a:t>
            </a:r>
            <a:endParaRPr lang="en-US" sz="1500" dirty="0"/>
          </a:p>
        </p:txBody>
      </p:sp>
      <p:sp>
        <p:nvSpPr>
          <p:cNvPr id="11" name="Label B"/>
          <p:cNvSpPr txBox="1"/>
          <p:nvPr/>
        </p:nvSpPr>
        <p:spPr>
          <a:xfrm>
            <a:off x="7726680" y="1417320"/>
            <a:ext cx="1005840" cy="594360"/>
          </a:xfrm>
          <a:prstGeom prst="rect">
            <a:avLst/>
          </a:prstGeom>
          <a:noFill/>
          <a:ln/>
        </p:spPr>
        <p:txBody>
          <a:bodyPr wrap="square" lIns="0" tIns="0" rIns="0" bIns="0" rtlCol="0" anchor="ctr"/>
          <a:lstStyle/>
          <a:p>
            <a:pPr algn="ctr" indent="0" marL="0">
              <a:buNone/>
            </a:pPr>
            <a:r>
              <a:rPr lang="en-US" sz="1500" b="1" dirty="0">
                <a:solidFill>
                  <a:schemeClr val="bg1"/>
                </a:solidFill>
              </a:rPr>
              <a:t>ML-KEM</a:t>
            </a:r>
            <a:endParaRPr lang="en-US" sz="1500" dirty="0"/>
          </a:p>
          <a:p>
            <a:pPr algn="ctr" indent="0" marL="0">
              <a:buNone/>
            </a:pPr>
            <a:r>
              <a:rPr lang="en-US" sz="1200" dirty="0">
                <a:solidFill>
                  <a:schemeClr val="bg1"/>
                </a:solidFill>
              </a:rPr>
              <a:t>lattice</a:t>
            </a:r>
            <a:endParaRPr lang="en-US" sz="1500" dirty="0"/>
          </a:p>
        </p:txBody>
      </p:sp>
      <p:sp>
        <p:nvSpPr>
          <p:cNvPr id="12" name="Label C"/>
          <p:cNvSpPr txBox="1"/>
          <p:nvPr/>
        </p:nvSpPr>
        <p:spPr>
          <a:xfrm>
            <a:off x="6309360" y="3520440"/>
            <a:ext cx="1371600" cy="594360"/>
          </a:xfrm>
          <a:prstGeom prst="rect">
            <a:avLst/>
          </a:prstGeom>
          <a:noFill/>
          <a:ln/>
        </p:spPr>
        <p:txBody>
          <a:bodyPr wrap="square" lIns="0" tIns="0" rIns="0" bIns="0" rtlCol="0" anchor="ctr"/>
          <a:lstStyle/>
          <a:p>
            <a:pPr algn="ctr" indent="0" marL="0">
              <a:buNone/>
            </a:pPr>
            <a:r>
              <a:rPr lang="en-US" sz="1500" b="1" dirty="0">
                <a:solidFill>
                  <a:schemeClr val="tx1"/>
                </a:solidFill>
              </a:rPr>
              <a:t>HQC</a:t>
            </a:r>
            <a:endParaRPr lang="en-US" sz="1500" dirty="0"/>
          </a:p>
          <a:p>
            <a:pPr algn="ctr" indent="0" marL="0">
              <a:buNone/>
            </a:pPr>
            <a:r>
              <a:rPr lang="en-US" sz="1200" dirty="0">
                <a:solidFill>
                  <a:schemeClr val="tx1"/>
                </a:solidFill>
              </a:rPr>
              <a:t>code-based</a:t>
            </a:r>
            <a:endParaRPr lang="en-US" sz="1500" dirty="0"/>
          </a:p>
        </p:txBody>
      </p:sp>
      <p:sp>
        <p:nvSpPr>
          <p:cNvPr id="13" name="Venn caption"/>
          <p:cNvSpPr txBox="1"/>
          <p:nvPr/>
        </p:nvSpPr>
        <p:spPr>
          <a:xfrm>
            <a:off x="5257800" y="4434840"/>
            <a:ext cx="3474720" cy="274320"/>
          </a:xfrm>
          <a:prstGeom prst="rect">
            <a:avLst/>
          </a:prstGeom>
          <a:noFill/>
          <a:ln/>
        </p:spPr>
        <p:txBody>
          <a:bodyPr wrap="square" lIns="0" tIns="0" rIns="0" bIns="0" rtlCol="0" anchor="ctr"/>
          <a:lstStyle/>
          <a:p>
            <a:pPr algn="ctr" indent="0" marL="0">
              <a:buNone/>
            </a:pPr>
            <a:r>
              <a:rPr lang="en-US" sz="1200" dirty="0">
                <a:solidFill>
                  <a:schemeClr val="bg2"/>
                </a:solidFill>
              </a:rPr>
              <a:t>All three secrets feed one key derivation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583680" cy="731520"/>
          </a:xfrm>
          <a:prstGeom prst="rect">
            <a:avLst/>
          </a:prstGeom>
          <a:noFill/>
          <a:ln/>
        </p:spPr>
        <p:txBody>
          <a:bodyPr wrap="square" lIns="0" tIns="0" rIns="0" bIns="0" rtlCol="0" anchor="ctr"/>
          <a:lstStyle/>
          <a:p>
            <a:pPr algn="l" indent="0" marL="0">
              <a:buNone/>
            </a:pPr>
            <a:r>
              <a:rPr lang="en-US" sz="3400" b="1" dirty="0">
                <a:solidFill>
                  <a:schemeClr val="tx1"/>
                </a:solidFill>
              </a:rPr>
              <a:t>Harvest now, decrypt later</a:t>
            </a:r>
            <a:endParaRPr lang="en-US" sz="3400" dirty="0"/>
          </a:p>
        </p:txBody>
      </p:sp>
      <p:sp>
        <p:nvSpPr>
          <p:cNvPr id="3" name="Flow Record"/>
          <p:cNvSpPr/>
          <p:nvPr/>
        </p:nvSpPr>
        <p:spPr>
          <a:xfrm>
            <a:off x="457200" y="1188720"/>
            <a:ext cx="2651760" cy="777240"/>
          </a:xfrm>
          <a:prstGeom prst="homePlate">
            <a:avLst/>
          </a:prstGeom>
          <a:solidFill>
            <a:schemeClr val="accent1"/>
          </a:solidFill>
          <a:ln w="12700">
            <a:solidFill>
              <a:schemeClr val="accent1"/>
            </a:solidFill>
            <a:prstDash val="solid"/>
          </a:ln>
        </p:spPr>
      </p:sp>
      <p:sp>
        <p:nvSpPr>
          <p:cNvPr id="4" name="Flow text Record"/>
          <p:cNvSpPr txBox="1"/>
          <p:nvPr/>
        </p:nvSpPr>
        <p:spPr>
          <a:xfrm>
            <a:off x="594360" y="1188720"/>
            <a:ext cx="2240280" cy="777240"/>
          </a:xfrm>
          <a:prstGeom prst="rect">
            <a:avLst/>
          </a:prstGeom>
          <a:noFill/>
          <a:ln/>
        </p:spPr>
        <p:txBody>
          <a:bodyPr wrap="square" lIns="0" tIns="0" rIns="0" bIns="0" rtlCol="0" anchor="ctr"/>
          <a:lstStyle/>
          <a:p>
            <a:pPr indent="0" marL="0">
              <a:buNone/>
            </a:pPr>
            <a:r>
              <a:rPr lang="en-US" sz="1800" b="1" dirty="0">
                <a:solidFill>
                  <a:schemeClr val="bg1"/>
                </a:solidFill>
              </a:rPr>
              <a:t>Record</a:t>
            </a:r>
            <a:endParaRPr lang="en-US" sz="1800" dirty="0"/>
          </a:p>
          <a:p>
            <a:pPr indent="0" marL="0">
              <a:buNone/>
            </a:pPr>
            <a:r>
              <a:rPr lang="en-US" sz="1200" dirty="0">
                <a:solidFill>
                  <a:schemeClr val="bg1"/>
                </a:solidFill>
              </a:rPr>
              <a:t>Attacker copies encrypted data today</a:t>
            </a:r>
            <a:endParaRPr lang="en-US" sz="1800" dirty="0"/>
          </a:p>
        </p:txBody>
      </p:sp>
      <p:sp>
        <p:nvSpPr>
          <p:cNvPr id="5" name="Flow Wait"/>
          <p:cNvSpPr/>
          <p:nvPr/>
        </p:nvSpPr>
        <p:spPr>
          <a:xfrm>
            <a:off x="3246120" y="1188720"/>
            <a:ext cx="2651760" cy="777240"/>
          </a:xfrm>
          <a:prstGeom prst="homePlate">
            <a:avLst/>
          </a:prstGeom>
          <a:solidFill>
            <a:schemeClr val="accent3"/>
          </a:solidFill>
          <a:ln w="12700">
            <a:solidFill>
              <a:schemeClr val="accent3"/>
            </a:solidFill>
            <a:prstDash val="solid"/>
          </a:ln>
        </p:spPr>
      </p:sp>
      <p:sp>
        <p:nvSpPr>
          <p:cNvPr id="6" name="Flow text Wait"/>
          <p:cNvSpPr txBox="1"/>
          <p:nvPr/>
        </p:nvSpPr>
        <p:spPr>
          <a:xfrm>
            <a:off x="3383280" y="1188720"/>
            <a:ext cx="2240280" cy="777240"/>
          </a:xfrm>
          <a:prstGeom prst="rect">
            <a:avLst/>
          </a:prstGeom>
          <a:noFill/>
          <a:ln/>
        </p:spPr>
        <p:txBody>
          <a:bodyPr wrap="square" lIns="0" tIns="0" rIns="0" bIns="0" rtlCol="0" anchor="ctr"/>
          <a:lstStyle/>
          <a:p>
            <a:pPr indent="0" marL="0">
              <a:buNone/>
            </a:pPr>
            <a:r>
              <a:rPr lang="en-US" sz="1800" b="1" dirty="0">
                <a:solidFill>
                  <a:schemeClr val="bg1"/>
                </a:solidFill>
              </a:rPr>
              <a:t>Wait</a:t>
            </a:r>
            <a:endParaRPr lang="en-US" sz="1800" dirty="0"/>
          </a:p>
          <a:p>
            <a:pPr indent="0" marL="0">
              <a:buNone/>
            </a:pPr>
            <a:r>
              <a:rPr lang="en-US" sz="1200" dirty="0">
                <a:solidFill>
                  <a:schemeClr val="bg1"/>
                </a:solidFill>
              </a:rPr>
              <a:t>Large quantum computer is built</a:t>
            </a:r>
            <a:endParaRPr lang="en-US" sz="1800" dirty="0"/>
          </a:p>
        </p:txBody>
      </p:sp>
      <p:sp>
        <p:nvSpPr>
          <p:cNvPr id="7" name="Flow Decrypt"/>
          <p:cNvSpPr/>
          <p:nvPr/>
        </p:nvSpPr>
        <p:spPr>
          <a:xfrm>
            <a:off x="6035040" y="1188720"/>
            <a:ext cx="2651760" cy="777240"/>
          </a:xfrm>
          <a:prstGeom prst="homePlate">
            <a:avLst/>
          </a:prstGeom>
          <a:solidFill>
            <a:schemeClr val="accent5"/>
          </a:solidFill>
          <a:ln w="12700">
            <a:solidFill>
              <a:schemeClr val="accent5"/>
            </a:solidFill>
            <a:prstDash val="solid"/>
          </a:ln>
        </p:spPr>
      </p:sp>
      <p:sp>
        <p:nvSpPr>
          <p:cNvPr id="8" name="Flow text Decrypt"/>
          <p:cNvSpPr txBox="1"/>
          <p:nvPr/>
        </p:nvSpPr>
        <p:spPr>
          <a:xfrm>
            <a:off x="6172200" y="1188720"/>
            <a:ext cx="2240280" cy="777240"/>
          </a:xfrm>
          <a:prstGeom prst="rect">
            <a:avLst/>
          </a:prstGeom>
          <a:noFill/>
          <a:ln/>
        </p:spPr>
        <p:txBody>
          <a:bodyPr wrap="square" lIns="0" tIns="0" rIns="0" bIns="0" rtlCol="0" anchor="ctr"/>
          <a:lstStyle/>
          <a:p>
            <a:pPr indent="0" marL="0">
              <a:buNone/>
            </a:pPr>
            <a:r>
              <a:rPr lang="en-US" sz="1800" b="1" dirty="0">
                <a:solidFill>
                  <a:schemeClr val="bg1"/>
                </a:solidFill>
              </a:rPr>
              <a:t>Decrypt</a:t>
            </a:r>
            <a:endParaRPr lang="en-US" sz="1800" dirty="0"/>
          </a:p>
          <a:p>
            <a:pPr indent="0" marL="0">
              <a:buNone/>
            </a:pPr>
            <a:r>
              <a:rPr lang="en-US" sz="1200" dirty="0">
                <a:solidFill>
                  <a:schemeClr val="bg1"/>
                </a:solidFill>
              </a:rPr>
              <a:t>Old files and keys are readable</a:t>
            </a:r>
            <a:endParaRPr lang="en-US" sz="1800" dirty="0"/>
          </a:p>
        </p:txBody>
      </p:sp>
      <p:sp>
        <p:nvSpPr>
          <p:cNvPr id="9" name="Card Key exchange breaks"/>
          <p:cNvSpPr/>
          <p:nvPr/>
        </p:nvSpPr>
        <p:spPr>
          <a:xfrm>
            <a:off x="457200" y="2240280"/>
            <a:ext cx="2651760" cy="1828800"/>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10" name="Icon bg Key exchange breaks"/>
          <p:cNvSpPr/>
          <p:nvPr/>
        </p:nvSpPr>
        <p:spPr>
          <a:xfrm>
            <a:off x="640080" y="2395728"/>
            <a:ext cx="457200" cy="457200"/>
          </a:xfrm>
          <a:prstGeom prst="ellipse">
            <a:avLst/>
          </a:prstGeom>
          <a:solidFill>
            <a:schemeClr val="accent5"/>
          </a:solidFill>
          <a:ln w="12700">
            <a:solidFill>
              <a:schemeClr val="accent5"/>
            </a:solidFill>
            <a:prstDash val="solid"/>
          </a:ln>
        </p:spPr>
      </p:sp>
      <p:pic>
        <p:nvPicPr>
          <p:cNvPr id="11" name="Icon Key exchange breaks" descr="Key exchange breaks">    </p:cNvPr>
          <p:cNvPicPr>
            <a:picLocks noChangeAspect="1"/>
          </p:cNvPicPr>
          <p:nvPr/>
        </p:nvPicPr>
        <p:blipFill>
          <a:blip r:embed="rId1"/>
          <a:stretch>
            <a:fillRect/>
          </a:stretch>
        </p:blipFill>
        <p:spPr>
          <a:xfrm>
            <a:off x="749808" y="2505456"/>
            <a:ext cx="237744" cy="237744"/>
          </a:xfrm>
          <a:prstGeom prst="rect">
            <a:avLst/>
          </a:prstGeom>
        </p:spPr>
      </p:pic>
      <p:sp>
        <p:nvSpPr>
          <p:cNvPr id="12" name="Card title Key exchange breaks"/>
          <p:cNvSpPr txBox="1"/>
          <p:nvPr/>
        </p:nvSpPr>
        <p:spPr>
          <a:xfrm>
            <a:off x="1188720" y="237744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Key exchange breaks</a:t>
            </a:r>
            <a:endParaRPr lang="en-US" sz="1600" dirty="0"/>
          </a:p>
        </p:txBody>
      </p:sp>
      <p:sp>
        <p:nvSpPr>
          <p:cNvPr id="13" name="Card body Key exchange breaks"/>
          <p:cNvSpPr txBox="1"/>
          <p:nvPr/>
        </p:nvSpPr>
        <p:spPr>
          <a:xfrm>
            <a:off x="640080" y="2971800"/>
            <a:ext cx="2286000" cy="1005840"/>
          </a:xfrm>
          <a:prstGeom prst="rect">
            <a:avLst/>
          </a:prstGeom>
          <a:noFill/>
          <a:ln/>
        </p:spPr>
        <p:txBody>
          <a:bodyPr wrap="square" lIns="0" tIns="0" rIns="0" bIns="0" rtlCol="0" anchor="t"/>
          <a:lstStyle/>
          <a:p>
            <a:pPr indent="0" marL="0">
              <a:buNone/>
            </a:pPr>
            <a:r>
              <a:rPr lang="en-US" sz="1400" dirty="0">
                <a:solidFill>
                  <a:schemeClr val="tx1"/>
                </a:solidFill>
              </a:rPr>
              <a:t>Shor's algorithm defeats RSA and elliptic-curve key exchange. Recorded sessions become readable.</a:t>
            </a:r>
            <a:endParaRPr lang="en-US" sz="1400" dirty="0"/>
          </a:p>
        </p:txBody>
      </p:sp>
      <p:sp>
        <p:nvSpPr>
          <p:cNvPr id="14" name="Card AES-256 survives"/>
          <p:cNvSpPr/>
          <p:nvPr/>
        </p:nvSpPr>
        <p:spPr>
          <a:xfrm>
            <a:off x="3246120" y="2240280"/>
            <a:ext cx="2651760" cy="1828800"/>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15" name="Icon bg AES-256 survives"/>
          <p:cNvSpPr/>
          <p:nvPr/>
        </p:nvSpPr>
        <p:spPr>
          <a:xfrm>
            <a:off x="3429000" y="2395728"/>
            <a:ext cx="457200" cy="457200"/>
          </a:xfrm>
          <a:prstGeom prst="ellipse">
            <a:avLst/>
          </a:prstGeom>
          <a:solidFill>
            <a:schemeClr val="accent1"/>
          </a:solidFill>
          <a:ln w="12700">
            <a:solidFill>
              <a:schemeClr val="accent1"/>
            </a:solidFill>
            <a:prstDash val="solid"/>
          </a:ln>
        </p:spPr>
      </p:sp>
      <p:pic>
        <p:nvPicPr>
          <p:cNvPr id="16" name="Icon AES-256 survives" descr="AES-256 survives">    </p:cNvPr>
          <p:cNvPicPr>
            <a:picLocks noChangeAspect="1"/>
          </p:cNvPicPr>
          <p:nvPr/>
        </p:nvPicPr>
        <p:blipFill>
          <a:blip r:embed="rId2"/>
          <a:stretch>
            <a:fillRect/>
          </a:stretch>
        </p:blipFill>
        <p:spPr>
          <a:xfrm>
            <a:off x="3538728" y="2505456"/>
            <a:ext cx="237744" cy="237744"/>
          </a:xfrm>
          <a:prstGeom prst="rect">
            <a:avLst/>
          </a:prstGeom>
        </p:spPr>
      </p:pic>
      <p:sp>
        <p:nvSpPr>
          <p:cNvPr id="17" name="Card title AES-256 survives"/>
          <p:cNvSpPr txBox="1"/>
          <p:nvPr/>
        </p:nvSpPr>
        <p:spPr>
          <a:xfrm>
            <a:off x="3977640" y="237744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AES-256 survives</a:t>
            </a:r>
            <a:endParaRPr lang="en-US" sz="1600" dirty="0"/>
          </a:p>
        </p:txBody>
      </p:sp>
      <p:sp>
        <p:nvSpPr>
          <p:cNvPr id="18" name="Card body AES-256 survives"/>
          <p:cNvSpPr txBox="1"/>
          <p:nvPr/>
        </p:nvSpPr>
        <p:spPr>
          <a:xfrm>
            <a:off x="3429000" y="2971800"/>
            <a:ext cx="2286000" cy="1005840"/>
          </a:xfrm>
          <a:prstGeom prst="rect">
            <a:avLst/>
          </a:prstGeom>
          <a:noFill/>
          <a:ln/>
        </p:spPr>
        <p:txBody>
          <a:bodyPr wrap="square" lIns="0" tIns="0" rIns="0" bIns="0" rtlCol="0" anchor="t"/>
          <a:lstStyle/>
          <a:p>
            <a:pPr indent="0" marL="0">
              <a:buNone/>
            </a:pPr>
            <a:r>
              <a:rPr lang="en-US" sz="1400" dirty="0">
                <a:solidFill>
                  <a:schemeClr val="tx1"/>
                </a:solidFill>
              </a:rPr>
              <a:t>Grover's algorithm only halves its strength. The weak point is the key exchange, not bulk encryption.</a:t>
            </a:r>
            <a:endParaRPr lang="en-US" sz="1400" dirty="0"/>
          </a:p>
        </p:txBody>
      </p:sp>
      <p:sp>
        <p:nvSpPr>
          <p:cNvPr id="19" name="Card New algorithms are young"/>
          <p:cNvSpPr/>
          <p:nvPr/>
        </p:nvSpPr>
        <p:spPr>
          <a:xfrm>
            <a:off x="6035040" y="2240280"/>
            <a:ext cx="2651760" cy="1828800"/>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20" name="Icon bg New algorithms are young"/>
          <p:cNvSpPr/>
          <p:nvPr/>
        </p:nvSpPr>
        <p:spPr>
          <a:xfrm>
            <a:off x="6217920" y="2395728"/>
            <a:ext cx="457200" cy="457200"/>
          </a:xfrm>
          <a:prstGeom prst="ellipse">
            <a:avLst/>
          </a:prstGeom>
          <a:solidFill>
            <a:schemeClr val="accent2"/>
          </a:solidFill>
          <a:ln w="12700">
            <a:solidFill>
              <a:schemeClr val="accent2"/>
            </a:solidFill>
            <a:prstDash val="solid"/>
          </a:ln>
        </p:spPr>
      </p:sp>
      <p:pic>
        <p:nvPicPr>
          <p:cNvPr id="21" name="Icon New algorithms are young" descr="New algorithms are young">    </p:cNvPr>
          <p:cNvPicPr>
            <a:picLocks noChangeAspect="1"/>
          </p:cNvPicPr>
          <p:nvPr/>
        </p:nvPicPr>
        <p:blipFill>
          <a:blip r:embed="rId3"/>
          <a:stretch>
            <a:fillRect/>
          </a:stretch>
        </p:blipFill>
        <p:spPr>
          <a:xfrm>
            <a:off x="6327648" y="2505456"/>
            <a:ext cx="237744" cy="237744"/>
          </a:xfrm>
          <a:prstGeom prst="rect">
            <a:avLst/>
          </a:prstGeom>
        </p:spPr>
      </p:pic>
      <p:sp>
        <p:nvSpPr>
          <p:cNvPr id="22" name="Card title New algorithms are young"/>
          <p:cNvSpPr txBox="1"/>
          <p:nvPr/>
        </p:nvSpPr>
        <p:spPr>
          <a:xfrm>
            <a:off x="6766560" y="237744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New algorithms are young</a:t>
            </a:r>
            <a:endParaRPr lang="en-US" sz="1600" dirty="0"/>
          </a:p>
        </p:txBody>
      </p:sp>
      <p:sp>
        <p:nvSpPr>
          <p:cNvPr id="23" name="Card body New algorithms are young"/>
          <p:cNvSpPr txBox="1"/>
          <p:nvPr/>
        </p:nvSpPr>
        <p:spPr>
          <a:xfrm>
            <a:off x="6217920" y="2971800"/>
            <a:ext cx="2286000" cy="1005840"/>
          </a:xfrm>
          <a:prstGeom prst="rect">
            <a:avLst/>
          </a:prstGeom>
          <a:noFill/>
          <a:ln/>
        </p:spPr>
        <p:txBody>
          <a:bodyPr wrap="square" lIns="0" tIns="0" rIns="0" bIns="0" rtlCol="0" anchor="t"/>
          <a:lstStyle/>
          <a:p>
            <a:pPr indent="0" marL="0">
              <a:buNone/>
            </a:pPr>
            <a:r>
              <a:rPr lang="en-US" sz="1400" dirty="0">
                <a:solidFill>
                  <a:schemeClr val="tx1"/>
                </a:solidFill>
              </a:rPr>
              <a:t>SIKE and Rainbow were broken late in the NIST process. Betting on one algorithm is risky.</a:t>
            </a:r>
            <a:endParaRPr lang="en-US" sz="1400" dirty="0"/>
          </a:p>
        </p:txBody>
      </p:sp>
      <p:sp>
        <p:nvSpPr>
          <p:cNvPr id="24" name="Design rule band"/>
          <p:cNvSpPr/>
          <p:nvPr/>
        </p:nvSpPr>
        <p:spPr>
          <a:xfrm>
            <a:off x="457200" y="4251960"/>
            <a:ext cx="8229600" cy="457200"/>
          </a:xfrm>
          <a:prstGeom prst="rect">
            <a:avLst/>
          </a:prstGeom>
          <a:solidFill>
            <a:schemeClr val="tx1"/>
          </a:solidFill>
          <a:ln w="12700">
            <a:solidFill>
              <a:schemeClr val="tx1"/>
            </a:solidFill>
            <a:prstDash val="solid"/>
          </a:ln>
        </p:spPr>
      </p:sp>
      <p:sp>
        <p:nvSpPr>
          <p:cNvPr id="25" name="Design rule"/>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500" b="1" dirty="0">
                <a:solidFill>
                  <a:schemeClr val="accent2"/>
                </a:solidFill>
              </a:rPr>
              <a:t>Design rule:  </a:t>
            </a:r>
            <a:pPr indent="0" marL="0">
              <a:buNone/>
            </a:pPr>
            <a:r>
              <a:rPr lang="en-US" sz="1500" dirty="0">
                <a:solidFill>
                  <a:schemeClr val="bg1"/>
                </a:solidFill>
              </a:rPr>
              <a:t>no single algorithm, no single server, and upgrades without re-encrypting.</a:t>
            </a:r>
            <a:endParaRPr lang="en-US" sz="15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583680" cy="731520"/>
          </a:xfrm>
          <a:prstGeom prst="rect">
            <a:avLst/>
          </a:prstGeom>
          <a:noFill/>
          <a:ln/>
        </p:spPr>
        <p:txBody>
          <a:bodyPr wrap="square" lIns="0" tIns="0" rIns="0" bIns="0" rtlCol="0" anchor="ctr"/>
          <a:lstStyle/>
          <a:p>
            <a:pPr algn="l" indent="0" marL="0">
              <a:buNone/>
            </a:pPr>
            <a:r>
              <a:rPr lang="en-US" sz="3400" b="1" dirty="0">
                <a:solidFill>
                  <a:schemeClr val="tx1"/>
                </a:solidFill>
              </a:rPr>
              <a:t>How it works</a:t>
            </a:r>
            <a:endParaRPr lang="en-US" sz="3400" dirty="0"/>
          </a:p>
        </p:txBody>
      </p:sp>
      <p:sp>
        <p:nvSpPr>
          <p:cNvPr id="3" name="Diagram frame"/>
          <p:cNvSpPr/>
          <p:nvPr/>
        </p:nvSpPr>
        <p:spPr>
          <a:xfrm>
            <a:off x="457200" y="1143000"/>
            <a:ext cx="5029200" cy="3108960"/>
          </a:xfrm>
          <a:prstGeom prst="rect">
            <a:avLst/>
          </a:prstGeom>
          <a:solidFill>
            <a:schemeClr val="bg1"/>
          </a:solidFill>
          <a:ln w="12700">
            <a:solidFill>
              <a:schemeClr val="bg2"/>
            </a:solidFill>
            <a:prstDash val="solid"/>
          </a:ln>
          <a:effectLst>
            <a:outerShdw sx="100000" sy="100000" kx="0" ky="0" algn="bl" rotWithShape="0" blurRad="101600" dist="25400" dir="5400000">
              <a:srgbClr val="0B1B33">
                <a:alpha val="12000"/>
              </a:srgbClr>
            </a:outerShdw>
          </a:effectLst>
        </p:spPr>
      </p:sp>
      <p:pic>
        <p:nvPicPr>
          <p:cNvPr id="4" name="Architecture diagram" descr="PQFS 2.0 architecture: sender, three relays, recipient">    </p:cNvPr>
          <p:cNvPicPr>
            <a:picLocks noChangeAspect="1"/>
          </p:cNvPicPr>
          <p:nvPr/>
        </p:nvPicPr>
        <p:blipFill>
          <a:blip r:embed="rId1"/>
          <a:stretch>
            <a:fillRect/>
          </a:stretch>
        </p:blipFill>
        <p:spPr>
          <a:xfrm>
            <a:off x="548640" y="1234440"/>
            <a:ext cx="4846320" cy="2961640"/>
          </a:xfrm>
          <a:prstGeom prst="rect">
            <a:avLst/>
          </a:prstGeom>
        </p:spPr>
      </p:pic>
      <p:sp>
        <p:nvSpPr>
          <p:cNvPr id="5" name="Step bg 1"/>
          <p:cNvSpPr/>
          <p:nvPr/>
        </p:nvSpPr>
        <p:spPr>
          <a:xfrm>
            <a:off x="5760720" y="1188720"/>
            <a:ext cx="457200" cy="457200"/>
          </a:xfrm>
          <a:prstGeom prst="ellipse">
            <a:avLst/>
          </a:prstGeom>
          <a:solidFill>
            <a:schemeClr val="accent1"/>
          </a:solidFill>
          <a:ln w="12700">
            <a:solidFill>
              <a:schemeClr val="accent1"/>
            </a:solidFill>
            <a:prstDash val="solid"/>
          </a:ln>
        </p:spPr>
      </p:sp>
      <p:sp>
        <p:nvSpPr>
          <p:cNvPr id="6" name="Step num 1"/>
          <p:cNvSpPr txBox="1"/>
          <p:nvPr/>
        </p:nvSpPr>
        <p:spPr>
          <a:xfrm>
            <a:off x="5760720" y="11887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Step text 1"/>
          <p:cNvSpPr txBox="1"/>
          <p:nvPr/>
        </p:nvSpPr>
        <p:spPr>
          <a:xfrm>
            <a:off x="6355080" y="1143000"/>
            <a:ext cx="2377440" cy="1005840"/>
          </a:xfrm>
          <a:prstGeom prst="rect">
            <a:avLst/>
          </a:prstGeom>
          <a:noFill/>
          <a:ln/>
        </p:spPr>
        <p:txBody>
          <a:bodyPr wrap="square" lIns="0" tIns="0" rIns="0" bIns="0" rtlCol="0" anchor="t"/>
          <a:lstStyle/>
          <a:p>
            <a:pPr indent="0" marL="0">
              <a:buNone/>
            </a:pPr>
            <a:r>
              <a:rPr lang="en-US" sz="1600" b="1" dirty="0">
                <a:solidFill>
                  <a:schemeClr val="tx1"/>
                </a:solidFill>
              </a:rPr>
              <a:t>Encrypt once</a:t>
            </a:r>
            <a:endParaRPr lang="en-US" sz="1600" dirty="0"/>
          </a:p>
          <a:p>
            <a:pPr indent="0" marL="0">
              <a:buNone/>
            </a:pPr>
            <a:r>
              <a:rPr lang="en-US" sz="1400" dirty="0">
                <a:solidFill>
                  <a:schemeClr val="tx1"/>
                </a:solidFill>
              </a:rPr>
              <a:t>AES-256-GCM in 64 KiB chunks under a random file key. Size hidden with Padme padding.</a:t>
            </a:r>
            <a:endParaRPr lang="en-US" sz="1600" dirty="0"/>
          </a:p>
        </p:txBody>
      </p:sp>
      <p:sp>
        <p:nvSpPr>
          <p:cNvPr id="8" name="Step bg 2"/>
          <p:cNvSpPr/>
          <p:nvPr/>
        </p:nvSpPr>
        <p:spPr>
          <a:xfrm>
            <a:off x="5760720" y="2267712"/>
            <a:ext cx="457200" cy="457200"/>
          </a:xfrm>
          <a:prstGeom prst="ellipse">
            <a:avLst/>
          </a:prstGeom>
          <a:solidFill>
            <a:schemeClr val="accent1"/>
          </a:solidFill>
          <a:ln w="12700">
            <a:solidFill>
              <a:schemeClr val="accent1"/>
            </a:solidFill>
            <a:prstDash val="solid"/>
          </a:ln>
        </p:spPr>
      </p:sp>
      <p:sp>
        <p:nvSpPr>
          <p:cNvPr id="9" name="Step num 2"/>
          <p:cNvSpPr txBox="1"/>
          <p:nvPr/>
        </p:nvSpPr>
        <p:spPr>
          <a:xfrm>
            <a:off x="5760720" y="226771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text 2"/>
          <p:cNvSpPr txBox="1"/>
          <p:nvPr/>
        </p:nvSpPr>
        <p:spPr>
          <a:xfrm>
            <a:off x="6355080" y="2221992"/>
            <a:ext cx="2377440" cy="1005840"/>
          </a:xfrm>
          <a:prstGeom prst="rect">
            <a:avLst/>
          </a:prstGeom>
          <a:noFill/>
          <a:ln/>
        </p:spPr>
        <p:txBody>
          <a:bodyPr wrap="square" lIns="0" tIns="0" rIns="0" bIns="0" rtlCol="0" anchor="t"/>
          <a:lstStyle/>
          <a:p>
            <a:pPr indent="0" marL="0">
              <a:buNone/>
            </a:pPr>
            <a:r>
              <a:rPr lang="en-US" sz="1600" b="1" dirty="0">
                <a:solidFill>
                  <a:schemeClr val="tx1"/>
                </a:solidFill>
              </a:rPr>
              <a:t>Split and wrap</a:t>
            </a:r>
            <a:endParaRPr lang="en-US" sz="1600" dirty="0"/>
          </a:p>
          <a:p>
            <a:pPr indent="0" marL="0">
              <a:buNone/>
            </a:pPr>
            <a:r>
              <a:rPr lang="en-US" sz="1400" dirty="0">
                <a:solidFill>
                  <a:schemeClr val="tx1"/>
                </a:solidFill>
              </a:rPr>
              <a:t>Shamir t-of-n splits the key. Each share is wrapped with X25519 + ML-KEM + HQC.</a:t>
            </a:r>
            <a:endParaRPr lang="en-US" sz="1600" dirty="0"/>
          </a:p>
        </p:txBody>
      </p:sp>
      <p:sp>
        <p:nvSpPr>
          <p:cNvPr id="11" name="Step bg 3"/>
          <p:cNvSpPr/>
          <p:nvPr/>
        </p:nvSpPr>
        <p:spPr>
          <a:xfrm>
            <a:off x="5760720" y="3346704"/>
            <a:ext cx="457200" cy="457200"/>
          </a:xfrm>
          <a:prstGeom prst="ellipse">
            <a:avLst/>
          </a:prstGeom>
          <a:solidFill>
            <a:schemeClr val="accent1"/>
          </a:solidFill>
          <a:ln w="12700">
            <a:solidFill>
              <a:schemeClr val="accent1"/>
            </a:solidFill>
            <a:prstDash val="solid"/>
          </a:ln>
        </p:spPr>
      </p:sp>
      <p:sp>
        <p:nvSpPr>
          <p:cNvPr id="12" name="Step num 3"/>
          <p:cNvSpPr txBox="1"/>
          <p:nvPr/>
        </p:nvSpPr>
        <p:spPr>
          <a:xfrm>
            <a:off x="5760720" y="334670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Step text 3"/>
          <p:cNvSpPr txBox="1"/>
          <p:nvPr/>
        </p:nvSpPr>
        <p:spPr>
          <a:xfrm>
            <a:off x="6355080" y="3300984"/>
            <a:ext cx="2377440" cy="1005840"/>
          </a:xfrm>
          <a:prstGeom prst="rect">
            <a:avLst/>
          </a:prstGeom>
          <a:noFill/>
          <a:ln/>
        </p:spPr>
        <p:txBody>
          <a:bodyPr wrap="square" lIns="0" tIns="0" rIns="0" bIns="0" rtlCol="0" anchor="t"/>
          <a:lstStyle/>
          <a:p>
            <a:pPr indent="0" marL="0">
              <a:buNone/>
            </a:pPr>
            <a:r>
              <a:rPr lang="en-US" sz="1600" b="1" dirty="0">
                <a:solidFill>
                  <a:schemeClr val="tx1"/>
                </a:solidFill>
              </a:rPr>
              <a:t>Spread and verify</a:t>
            </a:r>
            <a:endParaRPr lang="en-US" sz="1600" dirty="0"/>
          </a:p>
          <a:p>
            <a:pPr indent="0" marL="0">
              <a:buNone/>
            </a:pPr>
            <a:r>
              <a:rPr lang="en-US" sz="1400" dirty="0">
                <a:solidFill>
                  <a:schemeClr val="tx1"/>
                </a:solidFill>
              </a:rPr>
              <a:t>Shares live on different relays. Recipient needs t shares plus a valid sender signature.</a:t>
            </a:r>
            <a:endParaRPr lang="en-US" sz="1600" dirty="0"/>
          </a:p>
        </p:txBody>
      </p:sp>
      <p:sp>
        <p:nvSpPr>
          <p:cNvPr id="14" name="Takeaway"/>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400" i="1" dirty="0">
                <a:solidFill>
                  <a:schemeClr val="accent6"/>
                </a:solidFill>
              </a:rPr>
              <a:t>Fewer than t relays learn nothing about the key, even against unlimited computing power.</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583680" cy="731520"/>
          </a:xfrm>
          <a:prstGeom prst="rect">
            <a:avLst/>
          </a:prstGeom>
          <a:noFill/>
          <a:ln/>
        </p:spPr>
        <p:txBody>
          <a:bodyPr wrap="square" lIns="0" tIns="0" rIns="0" bIns="0" rtlCol="0" anchor="ctr"/>
          <a:lstStyle/>
          <a:p>
            <a:pPr algn="l" indent="0" marL="0">
              <a:buNone/>
            </a:pPr>
            <a:r>
              <a:rPr lang="en-US" sz="3400" b="1" dirty="0">
                <a:solidFill>
                  <a:schemeClr val="tx1"/>
                </a:solidFill>
              </a:rPr>
              <a:t>Six upgrades over version 1</a:t>
            </a:r>
            <a:endParaRPr lang="en-US" sz="3400" dirty="0"/>
          </a:p>
        </p:txBody>
      </p:sp>
      <p:sp>
        <p:nvSpPr>
          <p:cNvPr id="3" name="Feature card 1"/>
          <p:cNvSpPr/>
          <p:nvPr/>
        </p:nvSpPr>
        <p:spPr>
          <a:xfrm>
            <a:off x="457200" y="1188720"/>
            <a:ext cx="2596896" cy="1572768"/>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4" name="Feature icon bg 1"/>
          <p:cNvSpPr/>
          <p:nvPr/>
        </p:nvSpPr>
        <p:spPr>
          <a:xfrm>
            <a:off x="621792" y="1344168"/>
            <a:ext cx="420624" cy="420624"/>
          </a:xfrm>
          <a:prstGeom prst="ellipse">
            <a:avLst/>
          </a:prstGeom>
          <a:solidFill>
            <a:schemeClr val="accent1"/>
          </a:solidFill>
          <a:ln w="12700">
            <a:solidFill>
              <a:schemeClr val="accent1"/>
            </a:solidFill>
            <a:prstDash val="solid"/>
          </a:ln>
        </p:spPr>
      </p:sp>
      <p:pic>
        <p:nvPicPr>
          <p:cNvPr id="5" name="Feature icon 1" descr="Hybrid multi-family KEM">    </p:cNvPr>
          <p:cNvPicPr>
            <a:picLocks noChangeAspect="1"/>
          </p:cNvPicPr>
          <p:nvPr/>
        </p:nvPicPr>
        <p:blipFill>
          <a:blip r:embed="rId1"/>
          <a:stretch>
            <a:fillRect/>
          </a:stretch>
        </p:blipFill>
        <p:spPr>
          <a:xfrm>
            <a:off x="722376" y="1444752"/>
            <a:ext cx="219456" cy="219456"/>
          </a:xfrm>
          <a:prstGeom prst="rect">
            <a:avLst/>
          </a:prstGeom>
        </p:spPr>
      </p:pic>
      <p:sp>
        <p:nvSpPr>
          <p:cNvPr id="6" name="Feature title 1"/>
          <p:cNvSpPr txBox="1"/>
          <p:nvPr/>
        </p:nvSpPr>
        <p:spPr>
          <a:xfrm>
            <a:off x="1143000" y="1298448"/>
            <a:ext cx="1828800" cy="512064"/>
          </a:xfrm>
          <a:prstGeom prst="rect">
            <a:avLst/>
          </a:prstGeom>
          <a:noFill/>
          <a:ln/>
        </p:spPr>
        <p:txBody>
          <a:bodyPr wrap="square" lIns="0" tIns="0" rIns="0" bIns="0" rtlCol="0" anchor="ctr"/>
          <a:lstStyle/>
          <a:p>
            <a:pPr indent="0" marL="0">
              <a:buNone/>
            </a:pPr>
            <a:r>
              <a:rPr lang="en-US" sz="1500" b="1" dirty="0">
                <a:solidFill>
                  <a:schemeClr val="tx1"/>
                </a:solidFill>
              </a:rPr>
              <a:t>Hybrid multi-family KEM</a:t>
            </a:r>
            <a:endParaRPr lang="en-US" sz="1500" dirty="0"/>
          </a:p>
        </p:txBody>
      </p:sp>
      <p:sp>
        <p:nvSpPr>
          <p:cNvPr id="7" name="Feature body 1"/>
          <p:cNvSpPr txBox="1"/>
          <p:nvPr/>
        </p:nvSpPr>
        <p:spPr>
          <a:xfrm>
            <a:off x="621792" y="1874520"/>
            <a:ext cx="2286000" cy="822960"/>
          </a:xfrm>
          <a:prstGeom prst="rect">
            <a:avLst/>
          </a:prstGeom>
          <a:noFill/>
          <a:ln/>
        </p:spPr>
        <p:txBody>
          <a:bodyPr wrap="square" lIns="0" tIns="0" rIns="0" bIns="0" rtlCol="0" anchor="t"/>
          <a:lstStyle/>
          <a:p>
            <a:pPr indent="0" marL="0">
              <a:buNone/>
            </a:pPr>
            <a:r>
              <a:rPr lang="en-US" sz="1400" dirty="0">
                <a:solidFill>
                  <a:schemeClr val="tx1"/>
                </a:solidFill>
              </a:rPr>
              <a:t>X25519 + ML-KEM + HQC into one KDF. Break all three or get nothing.</a:t>
            </a:r>
            <a:endParaRPr lang="en-US" sz="1400" dirty="0"/>
          </a:p>
        </p:txBody>
      </p:sp>
      <p:sp>
        <p:nvSpPr>
          <p:cNvPr id="8" name="Feature card 2"/>
          <p:cNvSpPr/>
          <p:nvPr/>
        </p:nvSpPr>
        <p:spPr>
          <a:xfrm>
            <a:off x="3273552" y="1188720"/>
            <a:ext cx="2596896" cy="1572768"/>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9" name="Feature icon bg 2"/>
          <p:cNvSpPr/>
          <p:nvPr/>
        </p:nvSpPr>
        <p:spPr>
          <a:xfrm>
            <a:off x="3438144" y="1344168"/>
            <a:ext cx="420624" cy="420624"/>
          </a:xfrm>
          <a:prstGeom prst="ellipse">
            <a:avLst/>
          </a:prstGeom>
          <a:solidFill>
            <a:schemeClr val="accent3"/>
          </a:solidFill>
          <a:ln w="12700">
            <a:solidFill>
              <a:schemeClr val="accent3"/>
            </a:solidFill>
            <a:prstDash val="solid"/>
          </a:ln>
        </p:spPr>
      </p:sp>
      <p:pic>
        <p:nvPicPr>
          <p:cNvPr id="10" name="Feature icon 2" descr="Multipath key sharing">    </p:cNvPr>
          <p:cNvPicPr>
            <a:picLocks noChangeAspect="1"/>
          </p:cNvPicPr>
          <p:nvPr/>
        </p:nvPicPr>
        <p:blipFill>
          <a:blip r:embed="rId2"/>
          <a:stretch>
            <a:fillRect/>
          </a:stretch>
        </p:blipFill>
        <p:spPr>
          <a:xfrm>
            <a:off x="3538728" y="1444752"/>
            <a:ext cx="219456" cy="219456"/>
          </a:xfrm>
          <a:prstGeom prst="rect">
            <a:avLst/>
          </a:prstGeom>
        </p:spPr>
      </p:pic>
      <p:sp>
        <p:nvSpPr>
          <p:cNvPr id="11" name="Feature title 2"/>
          <p:cNvSpPr txBox="1"/>
          <p:nvPr/>
        </p:nvSpPr>
        <p:spPr>
          <a:xfrm>
            <a:off x="3959352" y="1298448"/>
            <a:ext cx="1828800" cy="512064"/>
          </a:xfrm>
          <a:prstGeom prst="rect">
            <a:avLst/>
          </a:prstGeom>
          <a:noFill/>
          <a:ln/>
        </p:spPr>
        <p:txBody>
          <a:bodyPr wrap="square" lIns="0" tIns="0" rIns="0" bIns="0" rtlCol="0" anchor="ctr"/>
          <a:lstStyle/>
          <a:p>
            <a:pPr indent="0" marL="0">
              <a:buNone/>
            </a:pPr>
            <a:r>
              <a:rPr lang="en-US" sz="1500" b="1" dirty="0">
                <a:solidFill>
                  <a:schemeClr val="tx1"/>
                </a:solidFill>
              </a:rPr>
              <a:t>Multipath key sharing</a:t>
            </a:r>
            <a:endParaRPr lang="en-US" sz="1500" dirty="0"/>
          </a:p>
        </p:txBody>
      </p:sp>
      <p:sp>
        <p:nvSpPr>
          <p:cNvPr id="12" name="Feature body 2"/>
          <p:cNvSpPr txBox="1"/>
          <p:nvPr/>
        </p:nvSpPr>
        <p:spPr>
          <a:xfrm>
            <a:off x="3438144" y="1874520"/>
            <a:ext cx="2286000" cy="822960"/>
          </a:xfrm>
          <a:prstGeom prst="rect">
            <a:avLst/>
          </a:prstGeom>
          <a:noFill/>
          <a:ln/>
        </p:spPr>
        <p:txBody>
          <a:bodyPr wrap="square" lIns="0" tIns="0" rIns="0" bIns="0" rtlCol="0" anchor="t"/>
          <a:lstStyle/>
          <a:p>
            <a:pPr indent="0" marL="0">
              <a:buNone/>
            </a:pPr>
            <a:r>
              <a:rPr lang="en-US" sz="1400" dirty="0">
                <a:solidFill>
                  <a:schemeClr val="tx1"/>
                </a:solidFill>
              </a:rPr>
              <a:t>Shamir t-of-n across relays. Below t relays, the key stays hidden.</a:t>
            </a:r>
            <a:endParaRPr lang="en-US" sz="1400" dirty="0"/>
          </a:p>
        </p:txBody>
      </p:sp>
      <p:sp>
        <p:nvSpPr>
          <p:cNvPr id="13" name="Feature card 3"/>
          <p:cNvSpPr/>
          <p:nvPr/>
        </p:nvSpPr>
        <p:spPr>
          <a:xfrm>
            <a:off x="6089904" y="1188720"/>
            <a:ext cx="2596896" cy="1572768"/>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14" name="Feature icon bg 3"/>
          <p:cNvSpPr/>
          <p:nvPr/>
        </p:nvSpPr>
        <p:spPr>
          <a:xfrm>
            <a:off x="6254496" y="1344168"/>
            <a:ext cx="420624" cy="420624"/>
          </a:xfrm>
          <a:prstGeom prst="ellipse">
            <a:avLst/>
          </a:prstGeom>
          <a:solidFill>
            <a:schemeClr val="accent4"/>
          </a:solidFill>
          <a:ln w="12700">
            <a:solidFill>
              <a:schemeClr val="accent4"/>
            </a:solidFill>
            <a:prstDash val="solid"/>
          </a:ln>
        </p:spPr>
      </p:sp>
      <p:pic>
        <p:nvPicPr>
          <p:cNvPr id="15" name="Feature icon 3" descr="Crypto-agility">    </p:cNvPr>
          <p:cNvPicPr>
            <a:picLocks noChangeAspect="1"/>
          </p:cNvPicPr>
          <p:nvPr/>
        </p:nvPicPr>
        <p:blipFill>
          <a:blip r:embed="rId3"/>
          <a:stretch>
            <a:fillRect/>
          </a:stretch>
        </p:blipFill>
        <p:spPr>
          <a:xfrm>
            <a:off x="6355080" y="1444752"/>
            <a:ext cx="219456" cy="219456"/>
          </a:xfrm>
          <a:prstGeom prst="rect">
            <a:avLst/>
          </a:prstGeom>
        </p:spPr>
      </p:pic>
      <p:sp>
        <p:nvSpPr>
          <p:cNvPr id="16" name="Feature title 3"/>
          <p:cNvSpPr txBox="1"/>
          <p:nvPr/>
        </p:nvSpPr>
        <p:spPr>
          <a:xfrm>
            <a:off x="6775704" y="1298448"/>
            <a:ext cx="1828800" cy="512064"/>
          </a:xfrm>
          <a:prstGeom prst="rect">
            <a:avLst/>
          </a:prstGeom>
          <a:noFill/>
          <a:ln/>
        </p:spPr>
        <p:txBody>
          <a:bodyPr wrap="square" lIns="0" tIns="0" rIns="0" bIns="0" rtlCol="0" anchor="ctr"/>
          <a:lstStyle/>
          <a:p>
            <a:pPr indent="0" marL="0">
              <a:buNone/>
            </a:pPr>
            <a:r>
              <a:rPr lang="en-US" sz="1500" b="1" dirty="0">
                <a:solidFill>
                  <a:schemeClr val="tx1"/>
                </a:solidFill>
              </a:rPr>
              <a:t>Crypto-agility</a:t>
            </a:r>
            <a:endParaRPr lang="en-US" sz="1500" dirty="0"/>
          </a:p>
        </p:txBody>
      </p:sp>
      <p:sp>
        <p:nvSpPr>
          <p:cNvPr id="17" name="Feature body 3"/>
          <p:cNvSpPr txBox="1"/>
          <p:nvPr/>
        </p:nvSpPr>
        <p:spPr>
          <a:xfrm>
            <a:off x="6254496" y="1874520"/>
            <a:ext cx="2286000" cy="822960"/>
          </a:xfrm>
          <a:prstGeom prst="rect">
            <a:avLst/>
          </a:prstGeom>
          <a:noFill/>
          <a:ln/>
        </p:spPr>
        <p:txBody>
          <a:bodyPr wrap="square" lIns="0" tIns="0" rIns="0" bIns="0" rtlCol="0" anchor="t"/>
          <a:lstStyle/>
          <a:p>
            <a:pPr indent="0" marL="0">
              <a:buNone/>
            </a:pPr>
            <a:r>
              <a:rPr lang="en-US" sz="1400" dirty="0">
                <a:solidFill>
                  <a:schemeClr val="tx1"/>
                </a:solidFill>
              </a:rPr>
              <a:t>Rewrap only the key layer when an algorithm is retired. File untouched.</a:t>
            </a:r>
            <a:endParaRPr lang="en-US" sz="1400" dirty="0"/>
          </a:p>
        </p:txBody>
      </p:sp>
      <p:sp>
        <p:nvSpPr>
          <p:cNvPr id="18" name="Feature card 4"/>
          <p:cNvSpPr/>
          <p:nvPr/>
        </p:nvSpPr>
        <p:spPr>
          <a:xfrm>
            <a:off x="457200" y="2926080"/>
            <a:ext cx="2596896" cy="1572768"/>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19" name="Feature icon bg 4"/>
          <p:cNvSpPr/>
          <p:nvPr/>
        </p:nvSpPr>
        <p:spPr>
          <a:xfrm>
            <a:off x="621792" y="3081528"/>
            <a:ext cx="420624" cy="420624"/>
          </a:xfrm>
          <a:prstGeom prst="ellipse">
            <a:avLst/>
          </a:prstGeom>
          <a:solidFill>
            <a:schemeClr val="accent2"/>
          </a:solidFill>
          <a:ln w="12700">
            <a:solidFill>
              <a:schemeClr val="accent2"/>
            </a:solidFill>
            <a:prstDash val="solid"/>
          </a:ln>
        </p:spPr>
      </p:sp>
      <p:pic>
        <p:nvPicPr>
          <p:cNvPr id="20" name="Feature icon 4" descr="Shelf-life policy engine">    </p:cNvPr>
          <p:cNvPicPr>
            <a:picLocks noChangeAspect="1"/>
          </p:cNvPicPr>
          <p:nvPr/>
        </p:nvPicPr>
        <p:blipFill>
          <a:blip r:embed="rId4"/>
          <a:stretch>
            <a:fillRect/>
          </a:stretch>
        </p:blipFill>
        <p:spPr>
          <a:xfrm>
            <a:off x="722376" y="3182112"/>
            <a:ext cx="219456" cy="219456"/>
          </a:xfrm>
          <a:prstGeom prst="rect">
            <a:avLst/>
          </a:prstGeom>
        </p:spPr>
      </p:pic>
      <p:sp>
        <p:nvSpPr>
          <p:cNvPr id="21" name="Feature title 4"/>
          <p:cNvSpPr txBox="1"/>
          <p:nvPr/>
        </p:nvSpPr>
        <p:spPr>
          <a:xfrm>
            <a:off x="1143000" y="3035808"/>
            <a:ext cx="1828800" cy="512064"/>
          </a:xfrm>
          <a:prstGeom prst="rect">
            <a:avLst/>
          </a:prstGeom>
          <a:noFill/>
          <a:ln/>
        </p:spPr>
        <p:txBody>
          <a:bodyPr wrap="square" lIns="0" tIns="0" rIns="0" bIns="0" rtlCol="0" anchor="ctr"/>
          <a:lstStyle/>
          <a:p>
            <a:pPr indent="0" marL="0">
              <a:buNone/>
            </a:pPr>
            <a:r>
              <a:rPr lang="en-US" sz="1500" b="1" dirty="0">
                <a:solidFill>
                  <a:schemeClr val="tx1"/>
                </a:solidFill>
              </a:rPr>
              <a:t>Shelf-life policy engine</a:t>
            </a:r>
            <a:endParaRPr lang="en-US" sz="1500" dirty="0"/>
          </a:p>
        </p:txBody>
      </p:sp>
      <p:sp>
        <p:nvSpPr>
          <p:cNvPr id="22" name="Feature body 4"/>
          <p:cNvSpPr txBox="1"/>
          <p:nvPr/>
        </p:nvSpPr>
        <p:spPr>
          <a:xfrm>
            <a:off x="621792" y="3611880"/>
            <a:ext cx="2286000" cy="822960"/>
          </a:xfrm>
          <a:prstGeom prst="rect">
            <a:avLst/>
          </a:prstGeom>
          <a:noFill/>
          <a:ln/>
        </p:spPr>
        <p:txBody>
          <a:bodyPr wrap="square" lIns="0" tIns="0" rIns="0" bIns="0" rtlCol="0" anchor="t"/>
          <a:lstStyle/>
          <a:p>
            <a:pPr indent="0" marL="0">
              <a:buNone/>
            </a:pPr>
            <a:r>
              <a:rPr lang="en-US" sz="1400" dirty="0">
                <a:solidFill>
                  <a:schemeClr val="tx1"/>
                </a:solidFill>
              </a:rPr>
              <a:t>Years of secrecy plus file sensitivity pick tier T1, T2 or T3, with reasons.</a:t>
            </a:r>
            <a:endParaRPr lang="en-US" sz="1400" dirty="0"/>
          </a:p>
        </p:txBody>
      </p:sp>
      <p:sp>
        <p:nvSpPr>
          <p:cNvPr id="23" name="Feature card 5"/>
          <p:cNvSpPr/>
          <p:nvPr/>
        </p:nvSpPr>
        <p:spPr>
          <a:xfrm>
            <a:off x="3273552" y="2926080"/>
            <a:ext cx="2596896" cy="1572768"/>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24" name="Feature icon bg 5"/>
          <p:cNvSpPr/>
          <p:nvPr/>
        </p:nvSpPr>
        <p:spPr>
          <a:xfrm>
            <a:off x="3438144" y="3081528"/>
            <a:ext cx="420624" cy="420624"/>
          </a:xfrm>
          <a:prstGeom prst="ellipse">
            <a:avLst/>
          </a:prstGeom>
          <a:solidFill>
            <a:schemeClr val="accent5"/>
          </a:solidFill>
          <a:ln w="12700">
            <a:solidFill>
              <a:schemeClr val="accent5"/>
            </a:solidFill>
            <a:prstDash val="solid"/>
          </a:ln>
        </p:spPr>
      </p:sp>
      <p:pic>
        <p:nvPicPr>
          <p:cNvPr id="25" name="Feature icon 5" descr="Threshold custody and logs">    </p:cNvPr>
          <p:cNvPicPr>
            <a:picLocks noChangeAspect="1"/>
          </p:cNvPicPr>
          <p:nvPr/>
        </p:nvPicPr>
        <p:blipFill>
          <a:blip r:embed="rId5"/>
          <a:stretch>
            <a:fillRect/>
          </a:stretch>
        </p:blipFill>
        <p:spPr>
          <a:xfrm>
            <a:off x="3538728" y="3182112"/>
            <a:ext cx="219456" cy="219456"/>
          </a:xfrm>
          <a:prstGeom prst="rect">
            <a:avLst/>
          </a:prstGeom>
        </p:spPr>
      </p:pic>
      <p:sp>
        <p:nvSpPr>
          <p:cNvPr id="26" name="Feature title 5"/>
          <p:cNvSpPr txBox="1"/>
          <p:nvPr/>
        </p:nvSpPr>
        <p:spPr>
          <a:xfrm>
            <a:off x="3959352" y="3035808"/>
            <a:ext cx="1828800" cy="512064"/>
          </a:xfrm>
          <a:prstGeom prst="rect">
            <a:avLst/>
          </a:prstGeom>
          <a:noFill/>
          <a:ln/>
        </p:spPr>
        <p:txBody>
          <a:bodyPr wrap="square" lIns="0" tIns="0" rIns="0" bIns="0" rtlCol="0" anchor="ctr"/>
          <a:lstStyle/>
          <a:p>
            <a:pPr indent="0" marL="0">
              <a:buNone/>
            </a:pPr>
            <a:r>
              <a:rPr lang="en-US" sz="1500" b="1" dirty="0">
                <a:solidFill>
                  <a:schemeClr val="tx1"/>
                </a:solidFill>
              </a:rPr>
              <a:t>Threshold custody and logs</a:t>
            </a:r>
            <a:endParaRPr lang="en-US" sz="1500" dirty="0"/>
          </a:p>
        </p:txBody>
      </p:sp>
      <p:sp>
        <p:nvSpPr>
          <p:cNvPr id="27" name="Feature body 5"/>
          <p:cNvSpPr txBox="1"/>
          <p:nvPr/>
        </p:nvSpPr>
        <p:spPr>
          <a:xfrm>
            <a:off x="3438144" y="3611880"/>
            <a:ext cx="2286000" cy="822960"/>
          </a:xfrm>
          <a:prstGeom prst="rect">
            <a:avLst/>
          </a:prstGeom>
          <a:noFill/>
          <a:ln/>
        </p:spPr>
        <p:txBody>
          <a:bodyPr wrap="square" lIns="0" tIns="0" rIns="0" bIns="0" rtlCol="0" anchor="t"/>
          <a:lstStyle/>
          <a:p>
            <a:pPr indent="0" marL="0">
              <a:buNone/>
            </a:pPr>
            <a:r>
              <a:rPr lang="en-US" sz="1400" dirty="0">
                <a:solidFill>
                  <a:schemeClr val="tx1"/>
                </a:solidFill>
              </a:rPr>
              <a:t>t-of-n people approve. Relays keep signed Merkle logs with proofs.</a:t>
            </a:r>
            <a:endParaRPr lang="en-US" sz="1400" dirty="0"/>
          </a:p>
        </p:txBody>
      </p:sp>
      <p:sp>
        <p:nvSpPr>
          <p:cNvPr id="28" name="Feature card 6"/>
          <p:cNvSpPr/>
          <p:nvPr/>
        </p:nvSpPr>
        <p:spPr>
          <a:xfrm>
            <a:off x="6089904" y="2926080"/>
            <a:ext cx="2596896" cy="1572768"/>
          </a:xfrm>
          <a:prstGeom prst="rect">
            <a:avLst/>
          </a:prstGeom>
          <a:solidFill>
            <a:schemeClr val="bg2"/>
          </a:solidFill>
          <a:ln w="12700">
            <a:solidFill>
              <a:schemeClr val="bg2"/>
            </a:solidFill>
            <a:prstDash val="solid"/>
          </a:ln>
          <a:effectLst>
            <a:outerShdw sx="100000" sy="100000" kx="0" ky="0" algn="bl" rotWithShape="0" blurRad="101600" dist="25400" dir="5400000">
              <a:srgbClr val="0B1B33">
                <a:alpha val="12000"/>
              </a:srgbClr>
            </a:outerShdw>
          </a:effectLst>
        </p:spPr>
      </p:sp>
      <p:sp>
        <p:nvSpPr>
          <p:cNvPr id="29" name="Feature icon bg 6"/>
          <p:cNvSpPr/>
          <p:nvPr/>
        </p:nvSpPr>
        <p:spPr>
          <a:xfrm>
            <a:off x="6254496" y="3081528"/>
            <a:ext cx="420624" cy="420624"/>
          </a:xfrm>
          <a:prstGeom prst="ellipse">
            <a:avLst/>
          </a:prstGeom>
          <a:solidFill>
            <a:schemeClr val="accent6"/>
          </a:solidFill>
          <a:ln w="12700">
            <a:solidFill>
              <a:schemeClr val="accent6"/>
            </a:solidFill>
            <a:prstDash val="solid"/>
          </a:ln>
        </p:spPr>
      </p:sp>
      <p:pic>
        <p:nvPicPr>
          <p:cNvPr id="30" name="Feature icon 6" descr="Metadata privacy">    </p:cNvPr>
          <p:cNvPicPr>
            <a:picLocks noChangeAspect="1"/>
          </p:cNvPicPr>
          <p:nvPr/>
        </p:nvPicPr>
        <p:blipFill>
          <a:blip r:embed="rId6"/>
          <a:stretch>
            <a:fillRect/>
          </a:stretch>
        </p:blipFill>
        <p:spPr>
          <a:xfrm>
            <a:off x="6355080" y="3182112"/>
            <a:ext cx="219456" cy="219456"/>
          </a:xfrm>
          <a:prstGeom prst="rect">
            <a:avLst/>
          </a:prstGeom>
        </p:spPr>
      </p:pic>
      <p:sp>
        <p:nvSpPr>
          <p:cNvPr id="31" name="Feature title 6"/>
          <p:cNvSpPr txBox="1"/>
          <p:nvPr/>
        </p:nvSpPr>
        <p:spPr>
          <a:xfrm>
            <a:off x="6775704" y="3035808"/>
            <a:ext cx="1828800" cy="512064"/>
          </a:xfrm>
          <a:prstGeom prst="rect">
            <a:avLst/>
          </a:prstGeom>
          <a:noFill/>
          <a:ln/>
        </p:spPr>
        <p:txBody>
          <a:bodyPr wrap="square" lIns="0" tIns="0" rIns="0" bIns="0" rtlCol="0" anchor="ctr"/>
          <a:lstStyle/>
          <a:p>
            <a:pPr indent="0" marL="0">
              <a:buNone/>
            </a:pPr>
            <a:r>
              <a:rPr lang="en-US" sz="1500" b="1" dirty="0">
                <a:solidFill>
                  <a:schemeClr val="tx1"/>
                </a:solidFill>
              </a:rPr>
              <a:t>Metadata privacy</a:t>
            </a:r>
            <a:endParaRPr lang="en-US" sz="1500" dirty="0"/>
          </a:p>
        </p:txBody>
      </p:sp>
      <p:sp>
        <p:nvSpPr>
          <p:cNvPr id="32" name="Feature body 6"/>
          <p:cNvSpPr txBox="1"/>
          <p:nvPr/>
        </p:nvSpPr>
        <p:spPr>
          <a:xfrm>
            <a:off x="6254496" y="3611880"/>
            <a:ext cx="2286000" cy="822960"/>
          </a:xfrm>
          <a:prstGeom prst="rect">
            <a:avLst/>
          </a:prstGeom>
          <a:noFill/>
          <a:ln/>
        </p:spPr>
        <p:txBody>
          <a:bodyPr wrap="square" lIns="0" tIns="0" rIns="0" bIns="0" rtlCol="0" anchor="t"/>
          <a:lstStyle/>
          <a:p>
            <a:pPr indent="0" marL="0">
              <a:buNone/>
            </a:pPr>
            <a:r>
              <a:rPr lang="en-US" sz="1400" dirty="0">
                <a:solidFill>
                  <a:schemeClr val="tx1"/>
                </a:solidFill>
              </a:rPr>
              <a:t>Name, size, sender hidden. Padme padding, anonymous clients.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583680" cy="731520"/>
          </a:xfrm>
          <a:prstGeom prst="rect">
            <a:avLst/>
          </a:prstGeom>
          <a:noFill/>
          <a:ln/>
        </p:spPr>
        <p:txBody>
          <a:bodyPr wrap="square" lIns="0" tIns="0" rIns="0" bIns="0" rtlCol="0" anchor="ctr"/>
          <a:lstStyle/>
          <a:p>
            <a:pPr algn="l" indent="0" marL="0">
              <a:buNone/>
            </a:pPr>
            <a:r>
              <a:rPr lang="en-US" sz="3400" b="1" dirty="0">
                <a:solidFill>
                  <a:schemeClr val="tx1"/>
                </a:solidFill>
              </a:rPr>
              <a:t>Measured results</a:t>
            </a:r>
            <a:endParaRPr lang="en-US" sz="3400" dirty="0"/>
          </a:p>
        </p:txBody>
      </p:sp>
      <p:sp>
        <p:nvSpPr>
          <p:cNvPr id="3" name="Stat card 1"/>
          <p:cNvSpPr/>
          <p:nvPr/>
        </p:nvSpPr>
        <p:spPr>
          <a:xfrm>
            <a:off x="457200" y="1143000"/>
            <a:ext cx="1920240" cy="1097280"/>
          </a:xfrm>
          <a:prstGeom prst="rect">
            <a:avLst/>
          </a:prstGeom>
          <a:solidFill>
            <a:schemeClr val="accent1"/>
          </a:solidFill>
          <a:ln w="12700">
            <a:solidFill>
              <a:schemeClr val="bg1"/>
            </a:solidFill>
            <a:prstDash val="solid"/>
          </a:ln>
        </p:spPr>
      </p:sp>
      <p:sp>
        <p:nvSpPr>
          <p:cNvPr id="4" name="Stat value 1"/>
          <p:cNvSpPr txBox="1"/>
          <p:nvPr/>
        </p:nvSpPr>
        <p:spPr>
          <a:xfrm>
            <a:off x="548640" y="1188720"/>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24/24</a:t>
            </a:r>
            <a:endParaRPr lang="en-US" sz="2800" dirty="0"/>
          </a:p>
        </p:txBody>
      </p:sp>
      <p:sp>
        <p:nvSpPr>
          <p:cNvPr id="5" name="Stat label 1"/>
          <p:cNvSpPr txBox="1"/>
          <p:nvPr/>
        </p:nvSpPr>
        <p:spPr>
          <a:xfrm>
            <a:off x="548640" y="1755648"/>
            <a:ext cx="1737360" cy="411480"/>
          </a:xfrm>
          <a:prstGeom prst="rect">
            <a:avLst/>
          </a:prstGeom>
          <a:noFill/>
          <a:ln/>
        </p:spPr>
        <p:txBody>
          <a:bodyPr wrap="square" lIns="0" tIns="0" rIns="0" bIns="0" rtlCol="0" anchor="t"/>
          <a:lstStyle/>
          <a:p>
            <a:pPr algn="ctr" indent="0" marL="0">
              <a:buNone/>
            </a:pPr>
            <a:r>
              <a:rPr lang="en-US" sz="1200" dirty="0">
                <a:solidFill>
                  <a:schemeClr val="bg1"/>
                </a:solidFill>
              </a:rPr>
              <a:t>unit tests pass</a:t>
            </a:r>
            <a:endParaRPr lang="en-US" sz="1200" dirty="0"/>
          </a:p>
        </p:txBody>
      </p:sp>
      <p:sp>
        <p:nvSpPr>
          <p:cNvPr id="6" name="Stat card 2"/>
          <p:cNvSpPr/>
          <p:nvPr/>
        </p:nvSpPr>
        <p:spPr>
          <a:xfrm>
            <a:off x="2542032" y="1143000"/>
            <a:ext cx="1920240" cy="1097280"/>
          </a:xfrm>
          <a:prstGeom prst="rect">
            <a:avLst/>
          </a:prstGeom>
          <a:solidFill>
            <a:schemeClr val="accent3"/>
          </a:solidFill>
          <a:ln w="12700">
            <a:solidFill>
              <a:schemeClr val="bg1"/>
            </a:solidFill>
            <a:prstDash val="solid"/>
          </a:ln>
        </p:spPr>
      </p:sp>
      <p:sp>
        <p:nvSpPr>
          <p:cNvPr id="7" name="Stat value 2"/>
          <p:cNvSpPr txBox="1"/>
          <p:nvPr/>
        </p:nvSpPr>
        <p:spPr>
          <a:xfrm>
            <a:off x="2633472" y="1188720"/>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12</a:t>
            </a:r>
            <a:endParaRPr lang="en-US" sz="2800" dirty="0"/>
          </a:p>
        </p:txBody>
      </p:sp>
      <p:sp>
        <p:nvSpPr>
          <p:cNvPr id="8" name="Stat label 2"/>
          <p:cNvSpPr txBox="1"/>
          <p:nvPr/>
        </p:nvSpPr>
        <p:spPr>
          <a:xfrm>
            <a:off x="2633472" y="1755648"/>
            <a:ext cx="1737360" cy="411480"/>
          </a:xfrm>
          <a:prstGeom prst="rect">
            <a:avLst/>
          </a:prstGeom>
          <a:noFill/>
          <a:ln/>
        </p:spPr>
        <p:txBody>
          <a:bodyPr wrap="square" lIns="0" tIns="0" rIns="0" bIns="0" rtlCol="0" anchor="t"/>
          <a:lstStyle/>
          <a:p>
            <a:pPr algn="ctr" indent="0" marL="0">
              <a:buNone/>
            </a:pPr>
            <a:r>
              <a:rPr lang="en-US" sz="1200" dirty="0">
                <a:solidFill>
                  <a:schemeClr val="bg1"/>
                </a:solidFill>
              </a:rPr>
              <a:t>demo scenarios, incl. attacks</a:t>
            </a:r>
            <a:endParaRPr lang="en-US" sz="1200" dirty="0"/>
          </a:p>
        </p:txBody>
      </p:sp>
      <p:sp>
        <p:nvSpPr>
          <p:cNvPr id="9" name="Stat card 3"/>
          <p:cNvSpPr/>
          <p:nvPr/>
        </p:nvSpPr>
        <p:spPr>
          <a:xfrm>
            <a:off x="4626864" y="1143000"/>
            <a:ext cx="1920240" cy="1097280"/>
          </a:xfrm>
          <a:prstGeom prst="rect">
            <a:avLst/>
          </a:prstGeom>
          <a:solidFill>
            <a:schemeClr val="accent1"/>
          </a:solidFill>
          <a:ln w="12700">
            <a:solidFill>
              <a:schemeClr val="bg1"/>
            </a:solidFill>
            <a:prstDash val="solid"/>
          </a:ln>
        </p:spPr>
      </p:sp>
      <p:sp>
        <p:nvSpPr>
          <p:cNvPr id="10" name="Stat value 3"/>
          <p:cNvSpPr txBox="1"/>
          <p:nvPr/>
        </p:nvSpPr>
        <p:spPr>
          <a:xfrm>
            <a:off x="4718304" y="1188720"/>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186 MiB/s</a:t>
            </a:r>
            <a:endParaRPr lang="en-US" sz="2800" dirty="0"/>
          </a:p>
        </p:txBody>
      </p:sp>
      <p:sp>
        <p:nvSpPr>
          <p:cNvPr id="11" name="Stat label 3"/>
          <p:cNvSpPr txBox="1"/>
          <p:nvPr/>
        </p:nvSpPr>
        <p:spPr>
          <a:xfrm>
            <a:off x="4718304" y="1755648"/>
            <a:ext cx="1737360" cy="411480"/>
          </a:xfrm>
          <a:prstGeom prst="rect">
            <a:avLst/>
          </a:prstGeom>
          <a:noFill/>
          <a:ln/>
        </p:spPr>
        <p:txBody>
          <a:bodyPr wrap="square" lIns="0" tIns="0" rIns="0" bIns="0" rtlCol="0" anchor="t"/>
          <a:lstStyle/>
          <a:p>
            <a:pPr algn="ctr" indent="0" marL="0">
              <a:buNone/>
            </a:pPr>
            <a:r>
              <a:rPr lang="en-US" sz="1200" dirty="0">
                <a:solidFill>
                  <a:schemeClr val="bg1"/>
                </a:solidFill>
              </a:rPr>
              <a:t>streaming encryption, 1 core</a:t>
            </a:r>
            <a:endParaRPr lang="en-US" sz="1200" dirty="0"/>
          </a:p>
        </p:txBody>
      </p:sp>
      <p:sp>
        <p:nvSpPr>
          <p:cNvPr id="12" name="Stat card 4"/>
          <p:cNvSpPr/>
          <p:nvPr/>
        </p:nvSpPr>
        <p:spPr>
          <a:xfrm>
            <a:off x="6711696" y="1143000"/>
            <a:ext cx="1920240" cy="1097280"/>
          </a:xfrm>
          <a:prstGeom prst="rect">
            <a:avLst/>
          </a:prstGeom>
          <a:solidFill>
            <a:schemeClr val="accent3"/>
          </a:solidFill>
          <a:ln w="12700">
            <a:solidFill>
              <a:schemeClr val="bg1"/>
            </a:solidFill>
            <a:prstDash val="solid"/>
          </a:ln>
        </p:spPr>
      </p:sp>
      <p:sp>
        <p:nvSpPr>
          <p:cNvPr id="13" name="Stat value 4"/>
          <p:cNvSpPr txBox="1"/>
          <p:nvPr/>
        </p:nvSpPr>
        <p:spPr>
          <a:xfrm>
            <a:off x="6803136" y="1188720"/>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23 ms</a:t>
            </a:r>
            <a:endParaRPr lang="en-US" sz="2800" dirty="0"/>
          </a:p>
        </p:txBody>
      </p:sp>
      <p:sp>
        <p:nvSpPr>
          <p:cNvPr id="14" name="Stat label 4"/>
          <p:cNvSpPr txBox="1"/>
          <p:nvPr/>
        </p:nvSpPr>
        <p:spPr>
          <a:xfrm>
            <a:off x="6803136" y="1755648"/>
            <a:ext cx="1737360" cy="411480"/>
          </a:xfrm>
          <a:prstGeom prst="rect">
            <a:avLst/>
          </a:prstGeom>
          <a:noFill/>
          <a:ln/>
        </p:spPr>
        <p:txBody>
          <a:bodyPr wrap="square" lIns="0" tIns="0" rIns="0" bIns="0" rtlCol="0" anchor="t"/>
          <a:lstStyle/>
          <a:p>
            <a:pPr algn="ctr" indent="0" marL="0">
              <a:buNone/>
            </a:pPr>
            <a:r>
              <a:rPr lang="en-US" sz="1200" dirty="0">
                <a:solidFill>
                  <a:schemeClr val="bg1"/>
                </a:solidFill>
              </a:rPr>
              <a:t>T3 key wrap per share</a:t>
            </a:r>
            <a:endParaRPr lang="en-US" sz="1200" dirty="0"/>
          </a:p>
        </p:txBody>
      </p:sp>
      <p:graphicFrame>
        <p:nvGraphicFramePr>
          <p:cNvPr id="15" name="Chart 0" descr=""/>
          <p:cNvGraphicFramePr/>
          <p:nvPr/>
        </p:nvGraphicFramePr>
        <p:xfrm>
          <a:off x="457200" y="2423160"/>
          <a:ext cx="5120640" cy="2286000"/>
        </p:xfrm>
        <a:graphic xmlns:a="http://schemas.openxmlformats.org/drawingml/2006/main">
          <a:graphicData uri="http://schemas.openxmlformats.org/drawingml/2006/chart">
            <c:chart xmlns:c="http://schemas.openxmlformats.org/drawingml/2006/chart" r:id="rId1"/>
          </a:graphicData>
        </a:graphic>
      </p:graphicFrame>
      <p:sp>
        <p:nvSpPr>
          <p:cNvPr id="16" name="Interpretation"/>
          <p:cNvSpPr txBox="1"/>
          <p:nvPr/>
        </p:nvSpPr>
        <p:spPr>
          <a:xfrm>
            <a:off x="5852160" y="2468880"/>
            <a:ext cx="2834640" cy="21945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What it means</a:t>
            </a:r>
            <a:endParaRPr lang="en-US" sz="1400" dirty="0"/>
          </a:p>
          <a:p>
            <a:pPr marL="342900" indent="-342900">
              <a:spcAft>
                <a:spcPts val="600"/>
              </a:spcAft>
              <a:buSzPct val="100000"/>
              <a:buChar char="•"/>
            </a:pPr>
            <a:r>
              <a:rPr lang="en-US" sz="1400" dirty="0">
                <a:solidFill>
                  <a:schemeClr val="tx1"/>
                </a:solidFill>
              </a:rPr>
              <a:t>Post-quantum cost sits in the key wrap: milliseconds per share.</a:t>
            </a:r>
            <a:endParaRPr lang="en-US" sz="1400" dirty="0"/>
          </a:p>
          <a:p>
            <a:pPr marL="342900" indent="-342900">
              <a:spcAft>
                <a:spcPts val="600"/>
              </a:spcAft>
              <a:buSzPct val="100000"/>
              <a:buChar char="•"/>
            </a:pPr>
            <a:r>
              <a:rPr lang="en-US" sz="1400" dirty="0">
                <a:solidFill>
                  <a:schemeClr val="tx1"/>
                </a:solidFill>
              </a:rPr>
              <a:t>Bulk data runs at AES speed: 150 MiB/s with full verification.</a:t>
            </a:r>
            <a:endParaRPr lang="en-US" sz="1400" dirty="0"/>
          </a:p>
          <a:p>
            <a:pPr marL="342900" indent="-342900">
              <a:buSzPct val="100000"/>
              <a:buChar char="•"/>
            </a:pPr>
            <a:r>
              <a:rPr lang="en-US" sz="1400" dirty="0">
                <a:solidFill>
                  <a:schemeClr val="tx1"/>
                </a:solidFill>
              </a:rPr>
              <a:t>HQC is the slow, large part (9-14 KB ciphertext): the price of a third family.</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583680" cy="731520"/>
          </a:xfrm>
          <a:prstGeom prst="rect">
            <a:avLst/>
          </a:prstGeom>
          <a:noFill/>
          <a:ln/>
        </p:spPr>
        <p:txBody>
          <a:bodyPr wrap="square" lIns="0" tIns="0" rIns="0" bIns="0" rtlCol="0" anchor="ctr"/>
          <a:lstStyle/>
          <a:p>
            <a:pPr algn="l" indent="0" marL="0">
              <a:buNone/>
            </a:pPr>
            <a:r>
              <a:rPr lang="en-US" sz="3400" b="1" dirty="0">
                <a:solidFill>
                  <a:schemeClr val="bg1"/>
                </a:solidFill>
              </a:rPr>
              <a:t>Attacks stopped, limits stated</a:t>
            </a:r>
            <a:endParaRPr lang="en-US" sz="3400" dirty="0"/>
          </a:p>
        </p:txBody>
      </p:sp>
      <p:sp>
        <p:nvSpPr>
          <p:cNvPr id="3" name="Left heading"/>
          <p:cNvSpPr txBox="1"/>
          <p:nvPr/>
        </p:nvSpPr>
        <p:spPr>
          <a:xfrm>
            <a:off x="457200" y="1143000"/>
            <a:ext cx="3977640" cy="365760"/>
          </a:xfrm>
          <a:prstGeom prst="rect">
            <a:avLst/>
          </a:prstGeom>
          <a:noFill/>
          <a:ln/>
        </p:spPr>
        <p:txBody>
          <a:bodyPr wrap="square" lIns="0" tIns="0" rIns="0" bIns="0" rtlCol="0" anchor="ctr"/>
          <a:lstStyle/>
          <a:p>
            <a:pPr indent="0" marL="0">
              <a:buNone/>
            </a:pPr>
            <a:r>
              <a:rPr lang="en-US" sz="1800" b="1" dirty="0">
                <a:solidFill>
                  <a:schemeClr val="accent1"/>
                </a:solidFill>
              </a:rPr>
              <a:t>Stopped in the live demo</a:t>
            </a:r>
            <a:endParaRPr lang="en-US" sz="1800" dirty="0"/>
          </a:p>
        </p:txBody>
      </p:sp>
      <p:pic>
        <p:nvPicPr>
          <p:cNvPr id="4" name="Check 1" descr="passed">    </p:cNvPr>
          <p:cNvPicPr>
            <a:picLocks noChangeAspect="1"/>
          </p:cNvPicPr>
          <p:nvPr/>
        </p:nvPicPr>
        <p:blipFill>
          <a:blip r:embed="rId1"/>
          <a:stretch>
            <a:fillRect/>
          </a:stretch>
        </p:blipFill>
        <p:spPr>
          <a:xfrm>
            <a:off x="457200" y="1673352"/>
            <a:ext cx="274320" cy="274320"/>
          </a:xfrm>
          <a:prstGeom prst="rect">
            <a:avLst/>
          </a:prstGeom>
        </p:spPr>
      </p:pic>
      <p:sp>
        <p:nvSpPr>
          <p:cNvPr id="5" name="Win 1"/>
          <p:cNvSpPr txBox="1"/>
          <p:nvPr/>
        </p:nvSpPr>
        <p:spPr>
          <a:xfrm>
            <a:off x="868680" y="1600200"/>
            <a:ext cx="3566160" cy="548640"/>
          </a:xfrm>
          <a:prstGeom prst="rect">
            <a:avLst/>
          </a:prstGeom>
          <a:noFill/>
          <a:ln/>
        </p:spPr>
        <p:txBody>
          <a:bodyPr wrap="square" lIns="0" tIns="0" rIns="0" bIns="0" rtlCol="0" anchor="t"/>
          <a:lstStyle/>
          <a:p>
            <a:pPr indent="0" marL="0">
              <a:buNone/>
            </a:pPr>
            <a:r>
              <a:rPr lang="en-US" sz="1400" b="1" dirty="0">
                <a:solidFill>
                  <a:schemeClr val="bg1"/>
                </a:solidFill>
              </a:rPr>
              <a:t>One flipped ciphertext byte</a:t>
            </a:r>
            <a:endParaRPr lang="en-US" sz="1400" dirty="0"/>
          </a:p>
          <a:p>
            <a:pPr indent="0" marL="0">
              <a:buNone/>
            </a:pPr>
            <a:r>
              <a:rPr lang="en-US" sz="1300" dirty="0">
                <a:solidFill>
                  <a:schemeClr val="bg2"/>
                </a:solidFill>
              </a:rPr>
              <a:t>rejected at chunk 11 of 20</a:t>
            </a:r>
            <a:endParaRPr lang="en-US" sz="1400" dirty="0"/>
          </a:p>
        </p:txBody>
      </p:sp>
      <p:pic>
        <p:nvPicPr>
          <p:cNvPr id="6" name="Check 2" descr="passed">    </p:cNvPr>
          <p:cNvPicPr>
            <a:picLocks noChangeAspect="1"/>
          </p:cNvPicPr>
          <p:nvPr/>
        </p:nvPicPr>
        <p:blipFill>
          <a:blip r:embed="rId2"/>
          <a:stretch>
            <a:fillRect/>
          </a:stretch>
        </p:blipFill>
        <p:spPr>
          <a:xfrm>
            <a:off x="457200" y="2295144"/>
            <a:ext cx="274320" cy="274320"/>
          </a:xfrm>
          <a:prstGeom prst="rect">
            <a:avLst/>
          </a:prstGeom>
        </p:spPr>
      </p:pic>
      <p:sp>
        <p:nvSpPr>
          <p:cNvPr id="7" name="Win 2"/>
          <p:cNvSpPr txBox="1"/>
          <p:nvPr/>
        </p:nvSpPr>
        <p:spPr>
          <a:xfrm>
            <a:off x="868680" y="2221992"/>
            <a:ext cx="3566160" cy="548640"/>
          </a:xfrm>
          <a:prstGeom prst="rect">
            <a:avLst/>
          </a:prstGeom>
          <a:noFill/>
          <a:ln/>
        </p:spPr>
        <p:txBody>
          <a:bodyPr wrap="square" lIns="0" tIns="0" rIns="0" bIns="0" rtlCol="0" anchor="t"/>
          <a:lstStyle/>
          <a:p>
            <a:pPr indent="0" marL="0">
              <a:buNone/>
            </a:pPr>
            <a:r>
              <a:rPr lang="en-US" sz="1400" b="1" dirty="0">
                <a:solidFill>
                  <a:schemeClr val="bg1"/>
                </a:solidFill>
              </a:rPr>
              <a:t>Relays hide the newer key epoch</a:t>
            </a:r>
            <a:endParaRPr lang="en-US" sz="1400" dirty="0"/>
          </a:p>
          <a:p>
            <a:pPr indent="0" marL="0">
              <a:buNone/>
            </a:pPr>
            <a:r>
              <a:rPr lang="en-US" sz="1300" dirty="0">
                <a:solidFill>
                  <a:schemeClr val="bg2"/>
                </a:solidFill>
              </a:rPr>
              <a:t>rollback detected</a:t>
            </a:r>
            <a:endParaRPr lang="en-US" sz="1400" dirty="0"/>
          </a:p>
        </p:txBody>
      </p:sp>
      <p:pic>
        <p:nvPicPr>
          <p:cNvPr id="8" name="Check 3" descr="passed">    </p:cNvPr>
          <p:cNvPicPr>
            <a:picLocks noChangeAspect="1"/>
          </p:cNvPicPr>
          <p:nvPr/>
        </p:nvPicPr>
        <p:blipFill>
          <a:blip r:embed="rId3"/>
          <a:stretch>
            <a:fillRect/>
          </a:stretch>
        </p:blipFill>
        <p:spPr>
          <a:xfrm>
            <a:off x="457200" y="2916936"/>
            <a:ext cx="274320" cy="274320"/>
          </a:xfrm>
          <a:prstGeom prst="rect">
            <a:avLst/>
          </a:prstGeom>
        </p:spPr>
      </p:pic>
      <p:sp>
        <p:nvSpPr>
          <p:cNvPr id="9" name="Win 3"/>
          <p:cNvSpPr txBox="1"/>
          <p:nvPr/>
        </p:nvSpPr>
        <p:spPr>
          <a:xfrm>
            <a:off x="868680" y="2843784"/>
            <a:ext cx="3566160" cy="548640"/>
          </a:xfrm>
          <a:prstGeom prst="rect">
            <a:avLst/>
          </a:prstGeom>
          <a:noFill/>
          <a:ln/>
        </p:spPr>
        <p:txBody>
          <a:bodyPr wrap="square" lIns="0" tIns="0" rIns="0" bIns="0" rtlCol="0" anchor="t"/>
          <a:lstStyle/>
          <a:p>
            <a:pPr indent="0" marL="0">
              <a:buNone/>
            </a:pPr>
            <a:r>
              <a:rPr lang="en-US" sz="1400" b="1" dirty="0">
                <a:solidFill>
                  <a:schemeClr val="bg1"/>
                </a:solidFill>
              </a:rPr>
              <a:t>3 shares on 1 relay, threshold 2</a:t>
            </a:r>
            <a:endParaRPr lang="en-US" sz="1400" dirty="0"/>
          </a:p>
          <a:p>
            <a:pPr indent="0" marL="0">
              <a:buNone/>
            </a:pPr>
            <a:r>
              <a:rPr lang="en-US" sz="1300" dirty="0">
                <a:solidFill>
                  <a:schemeClr val="bg2"/>
                </a:solidFill>
              </a:rPr>
              <a:t>send refused</a:t>
            </a:r>
            <a:endParaRPr lang="en-US" sz="1400" dirty="0"/>
          </a:p>
        </p:txBody>
      </p:sp>
      <p:pic>
        <p:nvPicPr>
          <p:cNvPr id="10" name="Check 4" descr="passed">    </p:cNvPr>
          <p:cNvPicPr>
            <a:picLocks noChangeAspect="1"/>
          </p:cNvPicPr>
          <p:nvPr/>
        </p:nvPicPr>
        <p:blipFill>
          <a:blip r:embed="rId4"/>
          <a:stretch>
            <a:fillRect/>
          </a:stretch>
        </p:blipFill>
        <p:spPr>
          <a:xfrm>
            <a:off x="457200" y="3538728"/>
            <a:ext cx="274320" cy="274320"/>
          </a:xfrm>
          <a:prstGeom prst="rect">
            <a:avLst/>
          </a:prstGeom>
        </p:spPr>
      </p:pic>
      <p:sp>
        <p:nvSpPr>
          <p:cNvPr id="11" name="Win 4"/>
          <p:cNvSpPr txBox="1"/>
          <p:nvPr/>
        </p:nvSpPr>
        <p:spPr>
          <a:xfrm>
            <a:off x="868680" y="3465576"/>
            <a:ext cx="3566160" cy="548640"/>
          </a:xfrm>
          <a:prstGeom prst="rect">
            <a:avLst/>
          </a:prstGeom>
          <a:noFill/>
          <a:ln/>
        </p:spPr>
        <p:txBody>
          <a:bodyPr wrap="square" lIns="0" tIns="0" rIns="0" bIns="0" rtlCol="0" anchor="t"/>
          <a:lstStyle/>
          <a:p>
            <a:pPr indent="0" marL="0">
              <a:buNone/>
            </a:pPr>
            <a:r>
              <a:rPr lang="en-US" sz="1400" b="1" dirty="0">
                <a:solidFill>
                  <a:schemeClr val="bg1"/>
                </a:solidFill>
              </a:rPr>
              <a:t>Bob alone in a 2-of-3 custody</a:t>
            </a:r>
            <a:endParaRPr lang="en-US" sz="1400" dirty="0"/>
          </a:p>
          <a:p>
            <a:pPr indent="0" marL="0">
              <a:buNone/>
            </a:pPr>
            <a:r>
              <a:rPr lang="en-US" sz="1300" dirty="0">
                <a:solidFill>
                  <a:schemeClr val="bg2"/>
                </a:solidFill>
              </a:rPr>
              <a:t>blocked until Carol approves</a:t>
            </a:r>
            <a:endParaRPr lang="en-US" sz="1400" dirty="0"/>
          </a:p>
        </p:txBody>
      </p:sp>
      <p:sp>
        <p:nvSpPr>
          <p:cNvPr id="12" name="Right heading"/>
          <p:cNvSpPr txBox="1"/>
          <p:nvPr/>
        </p:nvSpPr>
        <p:spPr>
          <a:xfrm>
            <a:off x="4709160" y="1143000"/>
            <a:ext cx="3977640" cy="365760"/>
          </a:xfrm>
          <a:prstGeom prst="rect">
            <a:avLst/>
          </a:prstGeom>
          <a:noFill/>
          <a:ln/>
        </p:spPr>
        <p:txBody>
          <a:bodyPr wrap="square" lIns="0" tIns="0" rIns="0" bIns="0" rtlCol="0" anchor="ctr"/>
          <a:lstStyle/>
          <a:p>
            <a:pPr indent="0" marL="0">
              <a:buNone/>
            </a:pPr>
            <a:r>
              <a:rPr lang="en-US" sz="1800" b="1" dirty="0">
                <a:solidFill>
                  <a:schemeClr val="accent2"/>
                </a:solidFill>
              </a:rPr>
              <a:t>Honest limits</a:t>
            </a:r>
            <a:endParaRPr lang="en-US" sz="1800" dirty="0"/>
          </a:p>
        </p:txBody>
      </p:sp>
      <p:pic>
        <p:nvPicPr>
          <p:cNvPr id="13" name="Warn 1" descr="limit">    </p:cNvPr>
          <p:cNvPicPr>
            <a:picLocks noChangeAspect="1"/>
          </p:cNvPicPr>
          <p:nvPr/>
        </p:nvPicPr>
        <p:blipFill>
          <a:blip r:embed="rId5"/>
          <a:stretch>
            <a:fillRect/>
          </a:stretch>
        </p:blipFill>
        <p:spPr>
          <a:xfrm>
            <a:off x="4709160" y="1673352"/>
            <a:ext cx="274320" cy="274320"/>
          </a:xfrm>
          <a:prstGeom prst="rect">
            <a:avLst/>
          </a:prstGeom>
        </p:spPr>
      </p:pic>
      <p:sp>
        <p:nvSpPr>
          <p:cNvPr id="14" name="Limit 1"/>
          <p:cNvSpPr txBox="1"/>
          <p:nvPr/>
        </p:nvSpPr>
        <p:spPr>
          <a:xfrm>
            <a:off x="5120640" y="1600200"/>
            <a:ext cx="3566160" cy="457200"/>
          </a:xfrm>
          <a:prstGeom prst="rect">
            <a:avLst/>
          </a:prstGeom>
          <a:noFill/>
          <a:ln/>
        </p:spPr>
        <p:txBody>
          <a:bodyPr wrap="square" lIns="0" tIns="0" rIns="0" bIns="0" rtlCol="0" anchor="ctr"/>
          <a:lstStyle/>
          <a:p>
            <a:pPr indent="0" marL="0">
              <a:buNone/>
            </a:pPr>
            <a:r>
              <a:rPr lang="en-US" sz="1400" dirty="0">
                <a:solidFill>
                  <a:schemeClr val="bg1"/>
                </a:solidFill>
              </a:rPr>
              <a:t>Educational prototype, not security audited</a:t>
            </a:r>
            <a:endParaRPr lang="en-US" sz="1400" dirty="0"/>
          </a:p>
        </p:txBody>
      </p:sp>
      <p:pic>
        <p:nvPicPr>
          <p:cNvPr id="15" name="Warn 2" descr="limit">    </p:cNvPr>
          <p:cNvPicPr>
            <a:picLocks noChangeAspect="1"/>
          </p:cNvPicPr>
          <p:nvPr/>
        </p:nvPicPr>
        <p:blipFill>
          <a:blip r:embed="rId6"/>
          <a:stretch>
            <a:fillRect/>
          </a:stretch>
        </p:blipFill>
        <p:spPr>
          <a:xfrm>
            <a:off x="4709160" y="2295144"/>
            <a:ext cx="274320" cy="274320"/>
          </a:xfrm>
          <a:prstGeom prst="rect">
            <a:avLst/>
          </a:prstGeom>
        </p:spPr>
      </p:pic>
      <p:sp>
        <p:nvSpPr>
          <p:cNvPr id="16" name="Limit 2"/>
          <p:cNvSpPr txBox="1"/>
          <p:nvPr/>
        </p:nvSpPr>
        <p:spPr>
          <a:xfrm>
            <a:off x="5120640" y="2221992"/>
            <a:ext cx="3566160" cy="457200"/>
          </a:xfrm>
          <a:prstGeom prst="rect">
            <a:avLst/>
          </a:prstGeom>
          <a:noFill/>
          <a:ln/>
        </p:spPr>
        <p:txBody>
          <a:bodyPr wrap="square" lIns="0" tIns="0" rIns="0" bIns="0" rtlCol="0" anchor="ctr"/>
          <a:lstStyle/>
          <a:p>
            <a:pPr indent="0" marL="0">
              <a:buNone/>
            </a:pPr>
            <a:r>
              <a:rPr lang="en-US" sz="1400" dirty="0">
                <a:solidFill>
                  <a:schemeClr val="bg1"/>
                </a:solidFill>
              </a:rPr>
              <a:t>Relays still see IP addresses and timing</a:t>
            </a:r>
            <a:endParaRPr lang="en-US" sz="1400" dirty="0"/>
          </a:p>
        </p:txBody>
      </p:sp>
      <p:pic>
        <p:nvPicPr>
          <p:cNvPr id="17" name="Warn 3" descr="limit">    </p:cNvPr>
          <p:cNvPicPr>
            <a:picLocks noChangeAspect="1"/>
          </p:cNvPicPr>
          <p:nvPr/>
        </p:nvPicPr>
        <p:blipFill>
          <a:blip r:embed="rId7"/>
          <a:stretch>
            <a:fillRect/>
          </a:stretch>
        </p:blipFill>
        <p:spPr>
          <a:xfrm>
            <a:off x="4709160" y="2916936"/>
            <a:ext cx="274320" cy="274320"/>
          </a:xfrm>
          <a:prstGeom prst="rect">
            <a:avLst/>
          </a:prstGeom>
        </p:spPr>
      </p:pic>
      <p:sp>
        <p:nvSpPr>
          <p:cNvPr id="18" name="Limit 3"/>
          <p:cNvSpPr txBox="1"/>
          <p:nvPr/>
        </p:nvSpPr>
        <p:spPr>
          <a:xfrm>
            <a:off x="5120640" y="2843784"/>
            <a:ext cx="3566160" cy="457200"/>
          </a:xfrm>
          <a:prstGeom prst="rect">
            <a:avLst/>
          </a:prstGeom>
          <a:noFill/>
          <a:ln/>
        </p:spPr>
        <p:txBody>
          <a:bodyPr wrap="square" lIns="0" tIns="0" rIns="0" bIns="0" rtlCol="0" anchor="ctr"/>
          <a:lstStyle/>
          <a:p>
            <a:pPr indent="0" marL="0">
              <a:buNone/>
            </a:pPr>
            <a:r>
              <a:rPr lang="en-US" sz="1400" dirty="0">
                <a:solidFill>
                  <a:schemeClr val="bg1"/>
                </a:solidFill>
              </a:rPr>
              <a:t>Policy engine is rules, not machine learning</a:t>
            </a:r>
            <a:endParaRPr lang="en-US" sz="1400" dirty="0"/>
          </a:p>
        </p:txBody>
      </p:sp>
      <p:pic>
        <p:nvPicPr>
          <p:cNvPr id="19" name="Warn 4" descr="limit">    </p:cNvPr>
          <p:cNvPicPr>
            <a:picLocks noChangeAspect="1"/>
          </p:cNvPicPr>
          <p:nvPr/>
        </p:nvPicPr>
        <p:blipFill>
          <a:blip r:embed="rId8"/>
          <a:stretch>
            <a:fillRect/>
          </a:stretch>
        </p:blipFill>
        <p:spPr>
          <a:xfrm>
            <a:off x="4709160" y="3538728"/>
            <a:ext cx="274320" cy="274320"/>
          </a:xfrm>
          <a:prstGeom prst="rect">
            <a:avLst/>
          </a:prstGeom>
        </p:spPr>
      </p:pic>
      <p:sp>
        <p:nvSpPr>
          <p:cNvPr id="20" name="Limit 4"/>
          <p:cNvSpPr txBox="1"/>
          <p:nvPr/>
        </p:nvSpPr>
        <p:spPr>
          <a:xfrm>
            <a:off x="5120640" y="3465576"/>
            <a:ext cx="3566160" cy="457200"/>
          </a:xfrm>
          <a:prstGeom prst="rect">
            <a:avLst/>
          </a:prstGeom>
          <a:noFill/>
          <a:ln/>
        </p:spPr>
        <p:txBody>
          <a:bodyPr wrap="square" lIns="0" tIns="0" rIns="0" bIns="0" rtlCol="0" anchor="ctr"/>
          <a:lstStyle/>
          <a:p>
            <a:pPr indent="0" marL="0">
              <a:buNone/>
            </a:pPr>
            <a:r>
              <a:rPr lang="en-US" sz="1400" dirty="0">
                <a:solidFill>
                  <a:schemeClr val="bg1"/>
                </a:solidFill>
              </a:rPr>
              <a:t>Rewrap cannot recall data already harvested</a:t>
            </a:r>
            <a:endParaRPr lang="en-US" sz="1400" dirty="0"/>
          </a:p>
        </p:txBody>
      </p:sp>
      <p:sp>
        <p:nvSpPr>
          <p:cNvPr id="21" name="Conclusion band"/>
          <p:cNvSpPr/>
          <p:nvPr/>
        </p:nvSpPr>
        <p:spPr>
          <a:xfrm>
            <a:off x="457200" y="4160520"/>
            <a:ext cx="8229600" cy="548640"/>
          </a:xfrm>
          <a:prstGeom prst="rect">
            <a:avLst/>
          </a:prstGeom>
          <a:solidFill>
            <a:schemeClr val="tx2"/>
          </a:solidFill>
          <a:ln w="12700">
            <a:solidFill>
              <a:schemeClr val="tx2"/>
            </a:solidFill>
            <a:prstDash val="solid"/>
          </a:ln>
        </p:spPr>
      </p:sp>
      <p:sp>
        <p:nvSpPr>
          <p:cNvPr id="22" name="Takeaway text"/>
          <p:cNvSpPr txBox="1"/>
          <p:nvPr/>
        </p:nvSpPr>
        <p:spPr>
          <a:xfrm>
            <a:off x="594360" y="4160520"/>
            <a:ext cx="7955280" cy="548640"/>
          </a:xfrm>
          <a:prstGeom prst="rect">
            <a:avLst/>
          </a:prstGeom>
          <a:noFill/>
          <a:ln/>
        </p:spPr>
        <p:txBody>
          <a:bodyPr wrap="square" lIns="0" tIns="0" rIns="0" bIns="0" rtlCol="0" anchor="ctr"/>
          <a:lstStyle/>
          <a:p>
            <a:pPr indent="0" marL="0">
              <a:buNone/>
            </a:pPr>
            <a:r>
              <a:rPr lang="en-US" sz="1500" b="1" dirty="0">
                <a:solidFill>
                  <a:schemeClr val="accent2"/>
                </a:solidFill>
              </a:rPr>
              <a:t>Takeaway:  </a:t>
            </a:r>
            <a:pPr indent="0" marL="0">
              <a:buNone/>
            </a:pPr>
            <a:r>
              <a:rPr lang="en-US" sz="1500" dirty="0">
                <a:solidFill>
                  <a:schemeClr val="bg1"/>
                </a:solidFill>
              </a:rPr>
              <a:t>post-quantum security is layered design, not one algorithm swap.  Thank you. Questions?</a:t>
            </a:r>
            <a:endParaRPr lang="en-US" sz="15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PQFS Midnight">
  <a:themeElements>
    <a:clrScheme name="PQFS Midnight">
      <a:dk1>
        <a:srgbClr val="0B1B33"/>
      </a:dk1>
      <a:lt1>
        <a:srgbClr val="FFFFFF"/>
      </a:lt1>
      <a:dk2>
        <a:srgbClr val="13294B"/>
      </a:dk2>
      <a:lt2>
        <a:srgbClr val="EEF3F8"/>
      </a:lt2>
      <a:accent1>
        <a:srgbClr val="17A398"/>
      </a:accent1>
      <a:accent2>
        <a:srgbClr val="F2A93B"/>
      </a:accent2>
      <a:accent3>
        <a:srgbClr val="3B82C4"/>
      </a:accent3>
      <a:accent4>
        <a:srgbClr val="7C5CBF"/>
      </a:accent4>
      <a:accent5>
        <a:srgbClr val="E4572E"/>
      </a:accent5>
      <a:accent6>
        <a:srgbClr val="5B6B82"/>
      </a:accent6>
      <a:hlink>
        <a:srgbClr val="3B82C4"/>
      </a:hlink>
      <a:folHlink>
        <a:srgbClr val="7C5CBF"/>
      </a:folHlink>
    </a:clrScheme>
    <a:fontScheme name="PQFS Mid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PQFS 2.0 - Post-Quantum File Sharing System</dc:title>
  <dc:subject>PptxGenJS Presentation</dc:subject>
  <dc:creator>Pushkar Wagh &amp; Vivaan Kriplani</dc:creator>
  <cp:lastModifiedBy>Pushkar Wagh &amp; Vivaan Kriplani</cp:lastModifiedBy>
  <cp:revision>1</cp:revision>
  <dcterms:created xsi:type="dcterms:W3CDTF">2026-10-24T04:08:10Z</dcterms:created>
  <dcterms:modified xsi:type="dcterms:W3CDTF">2026-10-24T04:08:10Z</dcterms:modified>
</cp:coreProperties>
</file>